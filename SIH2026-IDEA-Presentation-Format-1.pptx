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>
      <p:cViewPr>
        <p:scale>
          <a:sx n="66" d="100"/>
          <a:sy n="66" d="100"/>
        </p:scale>
        <p:origin x="1291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71C6F-5DF4-4236-894C-72EC805109A3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0C62D-5C1B-4374-B581-BD2B07824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7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0C62D-5C1B-4374-B581-BD2B07824F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69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0C62D-5C1B-4374-B581-BD2B07824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55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0C62D-5C1B-4374-B581-BD2B07824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400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060" y="1424178"/>
            <a:ext cx="8430260" cy="29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50534" y="6581114"/>
            <a:ext cx="139445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390" y="6544767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877" y="1974469"/>
              <a:ext cx="3203448" cy="342620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252277" y="905252"/>
            <a:ext cx="2808986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1" dirty="0">
                <a:latin typeface="Times New Roman"/>
                <a:cs typeface="Times New Roman"/>
              </a:rPr>
              <a:t>TITLE</a:t>
            </a:r>
            <a:r>
              <a:rPr sz="3500" b="1" spc="-10" dirty="0">
                <a:latin typeface="Times New Roman"/>
                <a:cs typeface="Times New Roman"/>
              </a:rPr>
              <a:t> </a:t>
            </a:r>
            <a:r>
              <a:rPr sz="3500" b="1" spc="-50" dirty="0">
                <a:latin typeface="Times New Roman"/>
                <a:cs typeface="Times New Roman"/>
              </a:rPr>
              <a:t>PAGE</a:t>
            </a:r>
            <a:endParaRPr sz="35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-55" dirty="0">
                <a:solidFill>
                  <a:srgbClr val="1F487C"/>
                </a:solidFill>
              </a:rPr>
              <a:t>202</a:t>
            </a:r>
            <a:r>
              <a:rPr lang="en-IN" sz="4000" spc="-55">
                <a:solidFill>
                  <a:srgbClr val="1F487C"/>
                </a:solidFill>
              </a:rPr>
              <a:t>6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10057" y="2556763"/>
            <a:ext cx="5114290" cy="3499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Arial"/>
                <a:cs typeface="Arial"/>
              </a:rPr>
              <a:t>Problem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Statement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ID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–</a:t>
            </a:r>
            <a:r>
              <a:rPr sz="2000" b="1" spc="-10" dirty="0">
                <a:latin typeface="Arial"/>
                <a:cs typeface="Arial"/>
              </a:rPr>
              <a:t> SIH</a:t>
            </a:r>
            <a:r>
              <a:rPr lang="en-IN" sz="2000" b="1" dirty="0"/>
              <a:t>26032</a:t>
            </a:r>
            <a:endParaRPr sz="20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Arial"/>
                <a:cs typeface="Arial"/>
              </a:rPr>
              <a:t>Problem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Statement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Title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lang="en-IN" sz="2000" b="1" dirty="0">
                <a:latin typeface="Arial"/>
                <a:cs typeface="Arial"/>
              </a:rPr>
              <a:t> </a:t>
            </a:r>
            <a:r>
              <a:rPr lang="en-IN" sz="1300" b="1" dirty="0"/>
              <a:t>Smart Agricultural Procurement &amp; Queue Management System</a:t>
            </a: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endParaRPr lang="en-IN" sz="1200" b="1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Arial"/>
                <a:cs typeface="Arial"/>
              </a:rPr>
              <a:t>Theme-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Smart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lang="en-IN" sz="2000" b="1" dirty="0"/>
              <a:t>Automation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endParaRPr sz="2000" b="1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Arial"/>
                <a:cs typeface="Arial"/>
              </a:rPr>
              <a:t>PS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Category-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Software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spc="-20" dirty="0">
                <a:latin typeface="Arial"/>
                <a:cs typeface="Arial"/>
              </a:rPr>
              <a:t>Team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ID-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spc="-20" dirty="0">
                <a:latin typeface="Arial"/>
                <a:cs typeface="Arial"/>
              </a:rPr>
              <a:t>Team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Name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(Registered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portal)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ACE266-032D-DB03-9BCE-31AABB741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245" y="0"/>
            <a:ext cx="224790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40278"/>
            <a:ext cx="12192000" cy="400146"/>
            <a:chOff x="0" y="6472582"/>
            <a:chExt cx="12192000" cy="3678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93765"/>
              <a:ext cx="12189714" cy="3466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72582"/>
              <a:ext cx="12192000" cy="346710"/>
            </a:xfrm>
            <a:custGeom>
              <a:avLst/>
              <a:gdLst/>
              <a:ahLst/>
              <a:cxnLst/>
              <a:rect l="l" t="t" r="r" b="b"/>
              <a:pathLst>
                <a:path w="12192000" h="346709">
                  <a:moveTo>
                    <a:pt x="12192000" y="0"/>
                  </a:moveTo>
                  <a:lnTo>
                    <a:pt x="0" y="0"/>
                  </a:lnTo>
                  <a:lnTo>
                    <a:pt x="0" y="346113"/>
                  </a:lnTo>
                  <a:lnTo>
                    <a:pt x="12192000" y="34611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19756" y="-73824"/>
            <a:ext cx="6950201" cy="1176142"/>
          </a:xfrm>
          <a:prstGeom prst="rect">
            <a:avLst/>
          </a:prstGeom>
        </p:spPr>
        <p:txBody>
          <a:bodyPr vert="horz" wrap="square" lIns="0" tIns="189407" rIns="0" bIns="0" rtlCol="0">
            <a:spAutoFit/>
          </a:bodyPr>
          <a:lstStyle/>
          <a:p>
            <a:pPr marL="289560" algn="ctr">
              <a:lnSpc>
                <a:spcPct val="100000"/>
              </a:lnSpc>
              <a:spcBef>
                <a:spcPts val="105"/>
              </a:spcBef>
            </a:pPr>
            <a:r>
              <a:rPr lang="en-IN" sz="3200" dirty="0"/>
              <a:t>Smart Agricultural Procurement &amp; Queue Management System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713" y="1282245"/>
            <a:ext cx="5712461" cy="48378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54965" algn="l"/>
              </a:tabLst>
            </a:pPr>
            <a:r>
              <a:rPr sz="1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1400" b="1" u="sng" spc="-3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sz="1400" dirty="0">
              <a:latin typeface="Arial"/>
              <a:cs typeface="Arial"/>
            </a:endParaRPr>
          </a:p>
          <a:p>
            <a:r>
              <a:rPr lang="en-IN" sz="1400" dirty="0"/>
              <a:t>• </a:t>
            </a:r>
            <a:r>
              <a:rPr lang="en-IN" sz="1250" dirty="0"/>
              <a:t>A </a:t>
            </a:r>
            <a:r>
              <a:rPr lang="en-IN" sz="1250" b="1" dirty="0"/>
              <a:t>smart, AI-enabled agricultural procurement platform</a:t>
            </a:r>
            <a:r>
              <a:rPr lang="en-IN" sz="1250" dirty="0"/>
              <a:t> that helps farmers </a:t>
            </a:r>
            <a:r>
              <a:rPr lang="en-IN" sz="1250" b="1" dirty="0"/>
              <a:t>register, book procurement slots, track real-time queues, monitor procurement status, and receive payment updates</a:t>
            </a:r>
            <a:r>
              <a:rPr lang="en-IN" sz="1250" dirty="0"/>
              <a:t>, while helping procurement centres reduce congestion and waiting time.</a:t>
            </a:r>
          </a:p>
          <a:p>
            <a:r>
              <a:rPr lang="en-IN" sz="1250" dirty="0"/>
              <a:t>• </a:t>
            </a:r>
            <a:r>
              <a:rPr lang="en-IN" sz="1250" b="1" dirty="0"/>
              <a:t>Smart Procurement &amp; Slot Booking Engine</a:t>
            </a:r>
            <a:r>
              <a:rPr lang="en-IN" sz="1250" dirty="0"/>
              <a:t>: Captures farmer details such as </a:t>
            </a:r>
            <a:r>
              <a:rPr lang="en-IN" sz="1250" b="1" dirty="0"/>
              <a:t>location, crop/produce, expected quantity, and preferred date</a:t>
            </a:r>
            <a:r>
              <a:rPr lang="en-IN" sz="1250" dirty="0"/>
              <a:t>, then recommends suitable </a:t>
            </a:r>
            <a:r>
              <a:rPr lang="en-IN" sz="1250" b="1" dirty="0"/>
              <a:t>procurement centres and time slots</a:t>
            </a:r>
            <a:r>
              <a:rPr lang="en-IN" sz="1250" dirty="0"/>
              <a:t> based on availability, capacity, distance, and expected congestion.</a:t>
            </a:r>
          </a:p>
          <a:p>
            <a:r>
              <a:rPr lang="en-IN" sz="1250" dirty="0"/>
              <a:t>• </a:t>
            </a:r>
            <a:r>
              <a:rPr lang="en-IN" sz="1250" b="1" dirty="0"/>
              <a:t>Real-Time Queue &amp; Procurement Tracking</a:t>
            </a:r>
            <a:r>
              <a:rPr lang="en-IN" sz="1250" dirty="0"/>
              <a:t>: Provides </a:t>
            </a:r>
            <a:r>
              <a:rPr lang="en-IN" sz="1250" b="1" dirty="0"/>
              <a:t>digital token/QR check-in, live queue position, estimated waiting time, procurement status, and payment tracking</a:t>
            </a:r>
            <a:r>
              <a:rPr lang="en-IN" sz="1250" dirty="0"/>
              <a:t> from booking to final payment.</a:t>
            </a:r>
          </a:p>
          <a:p>
            <a:r>
              <a:rPr lang="en-IN" sz="1250" dirty="0"/>
              <a:t>• </a:t>
            </a:r>
            <a:r>
              <a:rPr lang="en-IN" sz="1250" b="1" dirty="0"/>
              <a:t>AI-Powered Automation</a:t>
            </a:r>
            <a:r>
              <a:rPr lang="en-IN" sz="1250" dirty="0"/>
              <a:t>: Uses </a:t>
            </a:r>
            <a:r>
              <a:rPr lang="en-IN" sz="1250" b="1" dirty="0"/>
              <a:t>rule-based + ML-light models</a:t>
            </a:r>
            <a:r>
              <a:rPr lang="en-IN" sz="1250" dirty="0"/>
              <a:t> for queue/wait-time prediction, smart slot recommendations, and centre load optimization, enabling efficient resource allocation and reducing farmer waiting time.</a:t>
            </a: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300" b="1" dirty="0">
                <a:latin typeface="Arial"/>
                <a:cs typeface="Arial"/>
              </a:rPr>
              <a:t>Additional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Innovative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Features</a:t>
            </a:r>
            <a:r>
              <a:rPr sz="1300" b="1" spc="-50" dirty="0">
                <a:latin typeface="Arial"/>
                <a:cs typeface="Arial"/>
              </a:rPr>
              <a:t> :</a:t>
            </a:r>
            <a:endParaRPr sz="1300" dirty="0">
              <a:latin typeface="Arial"/>
              <a:cs typeface="Arial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100" b="1" dirty="0"/>
              <a:t>AI Queue Prediction</a:t>
            </a:r>
            <a:r>
              <a:rPr lang="en-IN" sz="1100" dirty="0"/>
              <a:t> → Predicts queue length and estimated waiting time using real-time and historical centre data.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100" b="1" dirty="0"/>
              <a:t>Smart Centre &amp; Slot Recommendation</a:t>
            </a:r>
            <a:r>
              <a:rPr lang="en-IN" sz="1100" dirty="0"/>
              <a:t> → Recommends the least-congested centre and optimal time slot.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100" b="1" dirty="0"/>
              <a:t>Dynamic Capacity &amp; Load Balancing</a:t>
            </a:r>
            <a:r>
              <a:rPr lang="en-IN" sz="1100" dirty="0"/>
              <a:t> → Adjusts slot availability and distributes farmers across nearby centres.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100" b="1" dirty="0"/>
              <a:t>Smart Waitlist &amp; No-Show Management</a:t>
            </a:r>
            <a:r>
              <a:rPr lang="en-IN" sz="1100" dirty="0"/>
              <a:t> → Reallocates cancelled/no-show slots to farmers on the waitlist.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100" b="1" dirty="0"/>
              <a:t>AI Anomaly Detection</a:t>
            </a:r>
            <a:r>
              <a:rPr lang="en-IN" sz="1100" dirty="0"/>
              <a:t> → Flags duplicate bookings, abnormal quantities, repeated cancellations, and suspicious procurement activity. </a:t>
            </a:r>
          </a:p>
        </p:txBody>
      </p:sp>
      <p:sp>
        <p:nvSpPr>
          <p:cNvPr id="8" name="object 8"/>
          <p:cNvSpPr/>
          <p:nvPr/>
        </p:nvSpPr>
        <p:spPr>
          <a:xfrm>
            <a:off x="329768" y="252222"/>
            <a:ext cx="1925955" cy="807720"/>
          </a:xfrm>
          <a:custGeom>
            <a:avLst/>
            <a:gdLst/>
            <a:ahLst/>
            <a:cxnLst/>
            <a:rect l="l" t="t" r="r" b="b"/>
            <a:pathLst>
              <a:path w="1925955" h="807719">
                <a:moveTo>
                  <a:pt x="0" y="403732"/>
                </a:moveTo>
                <a:lnTo>
                  <a:pt x="8790" y="348941"/>
                </a:lnTo>
                <a:lnTo>
                  <a:pt x="34395" y="296392"/>
                </a:lnTo>
                <a:lnTo>
                  <a:pt x="75667" y="246566"/>
                </a:lnTo>
                <a:lnTo>
                  <a:pt x="131460" y="199945"/>
                </a:lnTo>
                <a:lnTo>
                  <a:pt x="164443" y="177986"/>
                </a:lnTo>
                <a:lnTo>
                  <a:pt x="200626" y="157008"/>
                </a:lnTo>
                <a:lnTo>
                  <a:pt x="239865" y="137071"/>
                </a:lnTo>
                <a:lnTo>
                  <a:pt x="282017" y="118236"/>
                </a:lnTo>
                <a:lnTo>
                  <a:pt x="326939" y="100563"/>
                </a:lnTo>
                <a:lnTo>
                  <a:pt x="374486" y="84111"/>
                </a:lnTo>
                <a:lnTo>
                  <a:pt x="424516" y="68941"/>
                </a:lnTo>
                <a:lnTo>
                  <a:pt x="476885" y="55113"/>
                </a:lnTo>
                <a:lnTo>
                  <a:pt x="531450" y="42686"/>
                </a:lnTo>
                <a:lnTo>
                  <a:pt x="588068" y="31722"/>
                </a:lnTo>
                <a:lnTo>
                  <a:pt x="646594" y="22279"/>
                </a:lnTo>
                <a:lnTo>
                  <a:pt x="706885" y="14419"/>
                </a:lnTo>
                <a:lnTo>
                  <a:pt x="768799" y="8200"/>
                </a:lnTo>
                <a:lnTo>
                  <a:pt x="832191" y="3684"/>
                </a:lnTo>
                <a:lnTo>
                  <a:pt x="896918" y="931"/>
                </a:lnTo>
                <a:lnTo>
                  <a:pt x="962837" y="0"/>
                </a:lnTo>
                <a:lnTo>
                  <a:pt x="1028773" y="931"/>
                </a:lnTo>
                <a:lnTo>
                  <a:pt x="1093514" y="3684"/>
                </a:lnTo>
                <a:lnTo>
                  <a:pt x="1156919" y="8200"/>
                </a:lnTo>
                <a:lnTo>
                  <a:pt x="1218843" y="14419"/>
                </a:lnTo>
                <a:lnTo>
                  <a:pt x="1279144" y="22279"/>
                </a:lnTo>
                <a:lnTo>
                  <a:pt x="1337678" y="31722"/>
                </a:lnTo>
                <a:lnTo>
                  <a:pt x="1394301" y="42686"/>
                </a:lnTo>
                <a:lnTo>
                  <a:pt x="1448871" y="55113"/>
                </a:lnTo>
                <a:lnTo>
                  <a:pt x="1501244" y="68941"/>
                </a:lnTo>
                <a:lnTo>
                  <a:pt x="1551277" y="84111"/>
                </a:lnTo>
                <a:lnTo>
                  <a:pt x="1598826" y="100563"/>
                </a:lnTo>
                <a:lnTo>
                  <a:pt x="1643748" y="118236"/>
                </a:lnTo>
                <a:lnTo>
                  <a:pt x="1685900" y="137071"/>
                </a:lnTo>
                <a:lnTo>
                  <a:pt x="1725138" y="157008"/>
                </a:lnTo>
                <a:lnTo>
                  <a:pt x="1761320" y="177986"/>
                </a:lnTo>
                <a:lnTo>
                  <a:pt x="1794302" y="199945"/>
                </a:lnTo>
                <a:lnTo>
                  <a:pt x="1850091" y="246566"/>
                </a:lnTo>
                <a:lnTo>
                  <a:pt x="1891360" y="296392"/>
                </a:lnTo>
                <a:lnTo>
                  <a:pt x="1916962" y="348941"/>
                </a:lnTo>
                <a:lnTo>
                  <a:pt x="1925751" y="403732"/>
                </a:lnTo>
                <a:lnTo>
                  <a:pt x="1923530" y="431363"/>
                </a:lnTo>
                <a:lnTo>
                  <a:pt x="1906191" y="485067"/>
                </a:lnTo>
                <a:lnTo>
                  <a:pt x="1872612" y="536293"/>
                </a:lnTo>
                <a:lnTo>
                  <a:pt x="1823940" y="584558"/>
                </a:lnTo>
                <a:lnTo>
                  <a:pt x="1761320" y="629383"/>
                </a:lnTo>
                <a:lnTo>
                  <a:pt x="1725138" y="650355"/>
                </a:lnTo>
                <a:lnTo>
                  <a:pt x="1685900" y="670287"/>
                </a:lnTo>
                <a:lnTo>
                  <a:pt x="1643748" y="689117"/>
                </a:lnTo>
                <a:lnTo>
                  <a:pt x="1598826" y="706787"/>
                </a:lnTo>
                <a:lnTo>
                  <a:pt x="1551277" y="723236"/>
                </a:lnTo>
                <a:lnTo>
                  <a:pt x="1501244" y="738404"/>
                </a:lnTo>
                <a:lnTo>
                  <a:pt x="1448871" y="752230"/>
                </a:lnTo>
                <a:lnTo>
                  <a:pt x="1394301" y="764655"/>
                </a:lnTo>
                <a:lnTo>
                  <a:pt x="1337678" y="775618"/>
                </a:lnTo>
                <a:lnTo>
                  <a:pt x="1279144" y="785060"/>
                </a:lnTo>
                <a:lnTo>
                  <a:pt x="1218843" y="792920"/>
                </a:lnTo>
                <a:lnTo>
                  <a:pt x="1156919" y="799138"/>
                </a:lnTo>
                <a:lnTo>
                  <a:pt x="1093514" y="803654"/>
                </a:lnTo>
                <a:lnTo>
                  <a:pt x="1028773" y="806407"/>
                </a:lnTo>
                <a:lnTo>
                  <a:pt x="962837" y="807338"/>
                </a:lnTo>
                <a:lnTo>
                  <a:pt x="896918" y="806407"/>
                </a:lnTo>
                <a:lnTo>
                  <a:pt x="832191" y="803654"/>
                </a:lnTo>
                <a:lnTo>
                  <a:pt x="768799" y="799138"/>
                </a:lnTo>
                <a:lnTo>
                  <a:pt x="706885" y="792920"/>
                </a:lnTo>
                <a:lnTo>
                  <a:pt x="646594" y="785060"/>
                </a:lnTo>
                <a:lnTo>
                  <a:pt x="588068" y="775618"/>
                </a:lnTo>
                <a:lnTo>
                  <a:pt x="531450" y="764655"/>
                </a:lnTo>
                <a:lnTo>
                  <a:pt x="476885" y="752230"/>
                </a:lnTo>
                <a:lnTo>
                  <a:pt x="424516" y="738404"/>
                </a:lnTo>
                <a:lnTo>
                  <a:pt x="374486" y="723236"/>
                </a:lnTo>
                <a:lnTo>
                  <a:pt x="326939" y="706787"/>
                </a:lnTo>
                <a:lnTo>
                  <a:pt x="282017" y="689117"/>
                </a:lnTo>
                <a:lnTo>
                  <a:pt x="239865" y="670287"/>
                </a:lnTo>
                <a:lnTo>
                  <a:pt x="200626" y="650355"/>
                </a:lnTo>
                <a:lnTo>
                  <a:pt x="164443" y="629383"/>
                </a:lnTo>
                <a:lnTo>
                  <a:pt x="131460" y="607431"/>
                </a:lnTo>
                <a:lnTo>
                  <a:pt x="75667" y="560826"/>
                </a:lnTo>
                <a:lnTo>
                  <a:pt x="34395" y="511020"/>
                </a:lnTo>
                <a:lnTo>
                  <a:pt x="8790" y="4584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0999" y="49110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FarmOps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BF58B-7A38-9C3D-4FA1-9630D845D7BB}"/>
              </a:ext>
            </a:extLst>
          </p:cNvPr>
          <p:cNvSpPr/>
          <p:nvPr/>
        </p:nvSpPr>
        <p:spPr>
          <a:xfrm>
            <a:off x="5867400" y="1312447"/>
            <a:ext cx="6245862" cy="5068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FE492-2E4E-70EC-25D7-67736C052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83944"/>
            <a:ext cx="2247900" cy="1057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78C72B-644A-25DA-1B80-F53C28E453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626" y="1322607"/>
            <a:ext cx="6169661" cy="5005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756" y="365252"/>
            <a:ext cx="695020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00"/>
              </a:spcBef>
            </a:pPr>
            <a:r>
              <a:rPr sz="3500" spc="-10" dirty="0"/>
              <a:t>TECHNICAL</a:t>
            </a:r>
            <a:r>
              <a:rPr sz="3500" spc="-350" dirty="0"/>
              <a:t> </a:t>
            </a:r>
            <a:r>
              <a:rPr sz="3500"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03" y="1363866"/>
            <a:ext cx="5352080" cy="5861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1300" dirty="0"/>
              <a:t>• </a:t>
            </a:r>
            <a:r>
              <a:rPr lang="en-IN" sz="1300" b="1" dirty="0"/>
              <a:t>Technologies to be Used:</a:t>
            </a:r>
            <a:endParaRPr lang="en-IN" sz="1300" dirty="0"/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Programming Languages:</a:t>
            </a:r>
            <a:endParaRPr lang="en-IN" sz="1300" dirty="0"/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Frontend:</a:t>
            </a:r>
            <a:r>
              <a:rPr lang="en-IN" sz="1300" dirty="0"/>
              <a:t> JavaScript / TypeScript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Backend &amp; AI Engine:</a:t>
            </a:r>
            <a:r>
              <a:rPr lang="en-IN" sz="1300" dirty="0"/>
              <a:t> Python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Frameworks &amp; Libraries:</a:t>
            </a:r>
            <a:endParaRPr lang="en-IN" sz="1300" dirty="0"/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Frontend Framework:</a:t>
            </a:r>
            <a:r>
              <a:rPr lang="en-IN" sz="1300" dirty="0"/>
              <a:t> React.js for a responsive, mobile-first user interface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Backend Framework:</a:t>
            </a:r>
            <a:r>
              <a:rPr lang="en-IN" sz="1300" dirty="0"/>
              <a:t> FastAPI for high-performance RESTful APIs and real-time communication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Machine Learning:</a:t>
            </a:r>
            <a:r>
              <a:rPr lang="en-IN" sz="1300" dirty="0"/>
              <a:t> Scikit-learn for lightweight queue prediction, smart slot recommendation, and centre-load optimization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Database &amp; Real-Time Services:</a:t>
            </a:r>
            <a:endParaRPr lang="en-IN" sz="1300" dirty="0"/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Database:</a:t>
            </a:r>
            <a:r>
              <a:rPr lang="en-IN" sz="1300" dirty="0"/>
              <a:t> PostgreSQL for storing farmer profiles, bookings, procurement, and payment records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Real-Time Data:</a:t>
            </a:r>
            <a:r>
              <a:rPr lang="en-IN" sz="1300" dirty="0"/>
              <a:t> Redis for queue management, caching, and real-time event handling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WebSockets:</a:t>
            </a:r>
            <a:r>
              <a:rPr lang="en-IN" sz="1300" dirty="0"/>
              <a:t> For live queue position, waiting-time, and procurement status updates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Supporting Tools &amp; Services:</a:t>
            </a:r>
            <a:endParaRPr lang="en-IN" sz="1300" dirty="0"/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Firebase:</a:t>
            </a:r>
            <a:r>
              <a:rPr lang="en-IN" sz="1300" dirty="0"/>
              <a:t> For push notifications and alerts </a:t>
            </a:r>
          </a:p>
          <a:p>
            <a:pPr lvl="3"/>
            <a:r>
              <a:rPr lang="en-IN" sz="1300" dirty="0"/>
              <a:t>• </a:t>
            </a:r>
            <a:r>
              <a:rPr lang="en-IN" sz="1300" b="1" dirty="0"/>
              <a:t>Docker:</a:t>
            </a:r>
            <a:r>
              <a:rPr lang="en-IN" sz="1300" dirty="0"/>
              <a:t> For containerized deployment and consistent armer application environments</a:t>
            </a:r>
          </a:p>
          <a:p>
            <a:pPr lvl="3"/>
            <a:r>
              <a:rPr lang="en-IN" sz="1300" b="1" dirty="0"/>
              <a:t>External Services: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sz="1300" b="1" dirty="0"/>
              <a:t>Google Maps API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IN" sz="1300" b="1" dirty="0"/>
              <a:t>Translation API</a:t>
            </a:r>
          </a:p>
          <a:p>
            <a:pPr lvl="3"/>
            <a:endParaRPr lang="en-IN" sz="1300" b="1" dirty="0"/>
          </a:p>
          <a:p>
            <a:pPr lvl="3"/>
            <a:endParaRPr lang="en-IN" sz="1400" dirty="0"/>
          </a:p>
          <a:p>
            <a:br>
              <a:rPr lang="en-IN" sz="1400" dirty="0"/>
            </a:br>
            <a:endParaRPr lang="en-IN" sz="1400" dirty="0"/>
          </a:p>
        </p:txBody>
      </p:sp>
      <p:sp>
        <p:nvSpPr>
          <p:cNvPr id="7" name="object 7"/>
          <p:cNvSpPr/>
          <p:nvPr/>
        </p:nvSpPr>
        <p:spPr>
          <a:xfrm>
            <a:off x="329768" y="252222"/>
            <a:ext cx="1925955" cy="807720"/>
          </a:xfrm>
          <a:custGeom>
            <a:avLst/>
            <a:gdLst/>
            <a:ahLst/>
            <a:cxnLst/>
            <a:rect l="l" t="t" r="r" b="b"/>
            <a:pathLst>
              <a:path w="1925955" h="807719">
                <a:moveTo>
                  <a:pt x="0" y="403732"/>
                </a:moveTo>
                <a:lnTo>
                  <a:pt x="8790" y="348941"/>
                </a:lnTo>
                <a:lnTo>
                  <a:pt x="34395" y="296392"/>
                </a:lnTo>
                <a:lnTo>
                  <a:pt x="75667" y="246566"/>
                </a:lnTo>
                <a:lnTo>
                  <a:pt x="131460" y="199945"/>
                </a:lnTo>
                <a:lnTo>
                  <a:pt x="164443" y="177986"/>
                </a:lnTo>
                <a:lnTo>
                  <a:pt x="200626" y="157008"/>
                </a:lnTo>
                <a:lnTo>
                  <a:pt x="239865" y="137071"/>
                </a:lnTo>
                <a:lnTo>
                  <a:pt x="282017" y="118236"/>
                </a:lnTo>
                <a:lnTo>
                  <a:pt x="326939" y="100563"/>
                </a:lnTo>
                <a:lnTo>
                  <a:pt x="374486" y="84111"/>
                </a:lnTo>
                <a:lnTo>
                  <a:pt x="424516" y="68941"/>
                </a:lnTo>
                <a:lnTo>
                  <a:pt x="476885" y="55113"/>
                </a:lnTo>
                <a:lnTo>
                  <a:pt x="531450" y="42686"/>
                </a:lnTo>
                <a:lnTo>
                  <a:pt x="588068" y="31722"/>
                </a:lnTo>
                <a:lnTo>
                  <a:pt x="646594" y="22279"/>
                </a:lnTo>
                <a:lnTo>
                  <a:pt x="706885" y="14419"/>
                </a:lnTo>
                <a:lnTo>
                  <a:pt x="768799" y="8200"/>
                </a:lnTo>
                <a:lnTo>
                  <a:pt x="832191" y="3684"/>
                </a:lnTo>
                <a:lnTo>
                  <a:pt x="896918" y="931"/>
                </a:lnTo>
                <a:lnTo>
                  <a:pt x="962837" y="0"/>
                </a:lnTo>
                <a:lnTo>
                  <a:pt x="1028773" y="931"/>
                </a:lnTo>
                <a:lnTo>
                  <a:pt x="1093514" y="3684"/>
                </a:lnTo>
                <a:lnTo>
                  <a:pt x="1156919" y="8200"/>
                </a:lnTo>
                <a:lnTo>
                  <a:pt x="1218843" y="14419"/>
                </a:lnTo>
                <a:lnTo>
                  <a:pt x="1279144" y="22279"/>
                </a:lnTo>
                <a:lnTo>
                  <a:pt x="1337678" y="31722"/>
                </a:lnTo>
                <a:lnTo>
                  <a:pt x="1394301" y="42686"/>
                </a:lnTo>
                <a:lnTo>
                  <a:pt x="1448871" y="55113"/>
                </a:lnTo>
                <a:lnTo>
                  <a:pt x="1501244" y="68941"/>
                </a:lnTo>
                <a:lnTo>
                  <a:pt x="1551277" y="84111"/>
                </a:lnTo>
                <a:lnTo>
                  <a:pt x="1598826" y="100563"/>
                </a:lnTo>
                <a:lnTo>
                  <a:pt x="1643748" y="118236"/>
                </a:lnTo>
                <a:lnTo>
                  <a:pt x="1685900" y="137071"/>
                </a:lnTo>
                <a:lnTo>
                  <a:pt x="1725138" y="157008"/>
                </a:lnTo>
                <a:lnTo>
                  <a:pt x="1761320" y="177986"/>
                </a:lnTo>
                <a:lnTo>
                  <a:pt x="1794302" y="199945"/>
                </a:lnTo>
                <a:lnTo>
                  <a:pt x="1850091" y="246566"/>
                </a:lnTo>
                <a:lnTo>
                  <a:pt x="1891360" y="296392"/>
                </a:lnTo>
                <a:lnTo>
                  <a:pt x="1916962" y="348941"/>
                </a:lnTo>
                <a:lnTo>
                  <a:pt x="1925751" y="403732"/>
                </a:lnTo>
                <a:lnTo>
                  <a:pt x="1923530" y="431363"/>
                </a:lnTo>
                <a:lnTo>
                  <a:pt x="1906191" y="485067"/>
                </a:lnTo>
                <a:lnTo>
                  <a:pt x="1872612" y="536293"/>
                </a:lnTo>
                <a:lnTo>
                  <a:pt x="1823940" y="584558"/>
                </a:lnTo>
                <a:lnTo>
                  <a:pt x="1761320" y="629383"/>
                </a:lnTo>
                <a:lnTo>
                  <a:pt x="1725138" y="650355"/>
                </a:lnTo>
                <a:lnTo>
                  <a:pt x="1685900" y="670287"/>
                </a:lnTo>
                <a:lnTo>
                  <a:pt x="1643748" y="689117"/>
                </a:lnTo>
                <a:lnTo>
                  <a:pt x="1598826" y="706787"/>
                </a:lnTo>
                <a:lnTo>
                  <a:pt x="1551277" y="723236"/>
                </a:lnTo>
                <a:lnTo>
                  <a:pt x="1501244" y="738404"/>
                </a:lnTo>
                <a:lnTo>
                  <a:pt x="1448871" y="752230"/>
                </a:lnTo>
                <a:lnTo>
                  <a:pt x="1394301" y="764655"/>
                </a:lnTo>
                <a:lnTo>
                  <a:pt x="1337678" y="775618"/>
                </a:lnTo>
                <a:lnTo>
                  <a:pt x="1279144" y="785060"/>
                </a:lnTo>
                <a:lnTo>
                  <a:pt x="1218843" y="792920"/>
                </a:lnTo>
                <a:lnTo>
                  <a:pt x="1156919" y="799138"/>
                </a:lnTo>
                <a:lnTo>
                  <a:pt x="1093514" y="803654"/>
                </a:lnTo>
                <a:lnTo>
                  <a:pt x="1028773" y="806407"/>
                </a:lnTo>
                <a:lnTo>
                  <a:pt x="962837" y="807338"/>
                </a:lnTo>
                <a:lnTo>
                  <a:pt x="896918" y="806407"/>
                </a:lnTo>
                <a:lnTo>
                  <a:pt x="832191" y="803654"/>
                </a:lnTo>
                <a:lnTo>
                  <a:pt x="768799" y="799138"/>
                </a:lnTo>
                <a:lnTo>
                  <a:pt x="706885" y="792920"/>
                </a:lnTo>
                <a:lnTo>
                  <a:pt x="646594" y="785060"/>
                </a:lnTo>
                <a:lnTo>
                  <a:pt x="588068" y="775618"/>
                </a:lnTo>
                <a:lnTo>
                  <a:pt x="531450" y="764655"/>
                </a:lnTo>
                <a:lnTo>
                  <a:pt x="476885" y="752230"/>
                </a:lnTo>
                <a:lnTo>
                  <a:pt x="424516" y="738404"/>
                </a:lnTo>
                <a:lnTo>
                  <a:pt x="374486" y="723236"/>
                </a:lnTo>
                <a:lnTo>
                  <a:pt x="326939" y="706787"/>
                </a:lnTo>
                <a:lnTo>
                  <a:pt x="282017" y="689117"/>
                </a:lnTo>
                <a:lnTo>
                  <a:pt x="239865" y="670287"/>
                </a:lnTo>
                <a:lnTo>
                  <a:pt x="200626" y="650355"/>
                </a:lnTo>
                <a:lnTo>
                  <a:pt x="164443" y="629383"/>
                </a:lnTo>
                <a:lnTo>
                  <a:pt x="131460" y="607431"/>
                </a:lnTo>
                <a:lnTo>
                  <a:pt x="75667" y="560826"/>
                </a:lnTo>
                <a:lnTo>
                  <a:pt x="34395" y="511020"/>
                </a:lnTo>
                <a:lnTo>
                  <a:pt x="8790" y="4584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0999" y="49110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FarmOps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6472582"/>
            <a:ext cx="12192000" cy="368300"/>
            <a:chOff x="0" y="6472582"/>
            <a:chExt cx="12192000" cy="3683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93765"/>
              <a:ext cx="12189714" cy="3466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6472582"/>
              <a:ext cx="12192000" cy="346710"/>
            </a:xfrm>
            <a:custGeom>
              <a:avLst/>
              <a:gdLst/>
              <a:ahLst/>
              <a:cxnLst/>
              <a:rect l="l" t="t" r="r" b="b"/>
              <a:pathLst>
                <a:path w="12192000" h="346709">
                  <a:moveTo>
                    <a:pt x="12192000" y="0"/>
                  </a:moveTo>
                  <a:lnTo>
                    <a:pt x="0" y="0"/>
                  </a:lnTo>
                  <a:lnTo>
                    <a:pt x="0" y="346113"/>
                  </a:lnTo>
                  <a:lnTo>
                    <a:pt x="12192000" y="34611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2D869-9A4A-A89E-47D7-6DDACCC2F50F}"/>
              </a:ext>
            </a:extLst>
          </p:cNvPr>
          <p:cNvSpPr/>
          <p:nvPr/>
        </p:nvSpPr>
        <p:spPr>
          <a:xfrm>
            <a:off x="5442470" y="1345141"/>
            <a:ext cx="6747243" cy="50331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C8BCF-07C3-B00B-1017-51F57F3BE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8708"/>
            <a:ext cx="2247900" cy="1057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15F7CE-C354-9013-57EC-028BE822E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80" y="837013"/>
            <a:ext cx="6636891" cy="5588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6613" y="341389"/>
            <a:ext cx="695020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3500" spc="-10" dirty="0"/>
              <a:t>FEASIBILITY</a:t>
            </a:r>
            <a:r>
              <a:rPr sz="3500" spc="-340" dirty="0"/>
              <a:t> </a:t>
            </a:r>
            <a:r>
              <a:rPr sz="3500" dirty="0"/>
              <a:t>AND</a:t>
            </a:r>
            <a:r>
              <a:rPr sz="3500" spc="-50" dirty="0"/>
              <a:t> </a:t>
            </a:r>
            <a:r>
              <a:rPr sz="3500"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186" y="1198894"/>
            <a:ext cx="5407077" cy="52597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100" b="1" dirty="0"/>
              <a:t>Feasibility :</a:t>
            </a:r>
          </a:p>
          <a:p>
            <a:r>
              <a:rPr lang="en-IN" sz="1100" dirty="0"/>
              <a:t>• AI-based queue prediction and slot recommendation can be implemented using rule-based logic and lightweight ML models.</a:t>
            </a:r>
          </a:p>
          <a:p>
            <a:r>
              <a:rPr lang="en-IN" sz="1100" dirty="0"/>
              <a:t>• Mobile-friendly interface with multilingual support can be developed for easy farmer access.</a:t>
            </a:r>
          </a:p>
          <a:p>
            <a:r>
              <a:rPr lang="en-IN" sz="1100" dirty="0"/>
              <a:t>• Procurement data can initially be entered manually and later integrated with government systems or APIs.</a:t>
            </a:r>
          </a:p>
          <a:p>
            <a:r>
              <a:rPr lang="en-IN" sz="1100" dirty="0"/>
              <a:t>• Existing services such as SMS, maps, translation, and cloud hosting make development practical.</a:t>
            </a:r>
          </a:p>
          <a:p>
            <a:br>
              <a:rPr lang="en-IN" sz="1100" dirty="0"/>
            </a:br>
            <a:endParaRPr lang="en-IN" sz="1100" dirty="0"/>
          </a:p>
          <a:p>
            <a:r>
              <a:rPr lang="en-IN" sz="1100" b="1" dirty="0"/>
              <a:t>Viability :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High demand:</a:t>
            </a:r>
            <a:r>
              <a:rPr lang="en-IN" sz="1100" dirty="0"/>
              <a:t> Farmers face long waiting times, uncertain schedules, and limited procurement status visibility.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Scalable:</a:t>
            </a:r>
            <a:r>
              <a:rPr lang="en-IN" sz="1100" dirty="0"/>
              <a:t> The platform can expand across procurement centres, districts, crops, and states.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AI-driven differentiation:</a:t>
            </a:r>
            <a:r>
              <a:rPr lang="en-IN" sz="1100" dirty="0"/>
              <a:t> Queue prediction, smart slot recommendation, and capacity optimization provide value beyond basic booking.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Government value:</a:t>
            </a:r>
            <a:r>
              <a:rPr lang="en-IN" sz="1100" dirty="0"/>
              <a:t> Real-time dashboards help authorities monitor congestion and procurement operations.</a:t>
            </a:r>
          </a:p>
          <a:p>
            <a:br>
              <a:rPr lang="en-IN" sz="1100" dirty="0"/>
            </a:br>
            <a:endParaRPr lang="en-IN" sz="1100" dirty="0"/>
          </a:p>
          <a:p>
            <a:r>
              <a:rPr lang="en-IN" sz="1100" b="1" dirty="0"/>
              <a:t>Use Cases :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Farmers:</a:t>
            </a:r>
            <a:r>
              <a:rPr lang="en-IN" sz="1100" dirty="0"/>
              <a:t> Find centres, book slots, receive digital tokens, track queues, and get procurement/payment updates.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Procurement Centres:</a:t>
            </a:r>
            <a:r>
              <a:rPr lang="en-IN" sz="1100" dirty="0"/>
              <a:t> Manage slots, queues, capacity, and daily procurement operations efficiently.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Government Authorities:</a:t>
            </a:r>
            <a:r>
              <a:rPr lang="en-IN" sz="1100" dirty="0"/>
              <a:t> Monitor congestion, procurement activity, capacity utilization, and operational issues.</a:t>
            </a:r>
          </a:p>
          <a:p>
            <a:r>
              <a:rPr lang="en-IN" sz="1100" dirty="0"/>
              <a:t>• </a:t>
            </a:r>
            <a:r>
              <a:rPr lang="en-IN" sz="1100" b="1" dirty="0"/>
              <a:t>Agricultural Departments:</a:t>
            </a:r>
            <a:r>
              <a:rPr lang="en-IN" sz="1100" dirty="0"/>
              <a:t> Use historical data for better centre planning and resource allocation.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46" y="1177283"/>
            <a:ext cx="261848" cy="2405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92277" y="1240753"/>
            <a:ext cx="5380355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200" b="1" dirty="0"/>
              <a:t>Business Potential :</a:t>
            </a:r>
          </a:p>
          <a:p>
            <a:r>
              <a:rPr lang="en-IN" sz="1200" dirty="0"/>
              <a:t>• Partnerships with government procurement agencies and centres can support large-scale adoption.</a:t>
            </a:r>
          </a:p>
          <a:p>
            <a:r>
              <a:rPr lang="en-IN" sz="1200" dirty="0"/>
              <a:t>• Cost savings through reduced waiting times and better resource utilization create strong value.</a:t>
            </a:r>
          </a:p>
          <a:p>
            <a:r>
              <a:rPr lang="en-IN" sz="1200" dirty="0"/>
              <a:t>• Expandable across multiple states, districts, crops, and procurement centres.</a:t>
            </a:r>
          </a:p>
          <a:p>
            <a:r>
              <a:rPr lang="en-IN" sz="1200" dirty="0"/>
              <a:t>• Data-driven insights can help authorities improve procurement planning and capacity management.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01338" y="3024750"/>
            <a:ext cx="5457262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200" b="1" dirty="0"/>
              <a:t>Challenges :</a:t>
            </a:r>
          </a:p>
          <a:p>
            <a:r>
              <a:rPr lang="en-IN" sz="1200" dirty="0"/>
              <a:t>• Limited availability and quality of initial procurement and historical queue data.</a:t>
            </a:r>
          </a:p>
          <a:p>
            <a:r>
              <a:rPr lang="en-IN" sz="1200" dirty="0"/>
              <a:t>• Accurate waiting-time prediction requires reliable real-time centre and queue data.</a:t>
            </a:r>
          </a:p>
          <a:p>
            <a:r>
              <a:rPr lang="en-IN" sz="1200" dirty="0"/>
              <a:t>• Supporting multiple regional languages and varying local procurement processes.</a:t>
            </a:r>
          </a:p>
          <a:p>
            <a:r>
              <a:rPr lang="en-IN" sz="1200" dirty="0"/>
              <a:t>• Ensuring reliable connectivity and real-time updates in rural areas.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75628" y="4802885"/>
            <a:ext cx="5787772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200" b="1" dirty="0"/>
              <a:t>Solutions :</a:t>
            </a:r>
          </a:p>
          <a:p>
            <a:r>
              <a:rPr lang="en-IN" sz="1200" dirty="0"/>
              <a:t>• Start with manually collected procurement data and gradually integrate government APIs and centre systems.</a:t>
            </a:r>
          </a:p>
          <a:p>
            <a:r>
              <a:rPr lang="en-IN" sz="1200" dirty="0"/>
              <a:t>• Use lightweight ML models and real-time data to improve queue prediction and slot recommendations.</a:t>
            </a:r>
          </a:p>
          <a:p>
            <a:r>
              <a:rPr lang="en-IN" sz="1200" dirty="0"/>
              <a:t>• Provide regional language support with a simple, farmer-friendly interface.</a:t>
            </a:r>
          </a:p>
          <a:p>
            <a:r>
              <a:rPr lang="en-IN" sz="1200" dirty="0"/>
              <a:t>• Use offline-friendly features and SMS notifications to ensure access even with limited connectivity.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7954" y="1264076"/>
            <a:ext cx="371094" cy="1745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62" y="4912740"/>
            <a:ext cx="221615" cy="2207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1269" y="3178750"/>
            <a:ext cx="231063" cy="2310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50446" y="4802885"/>
            <a:ext cx="298450" cy="29845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29768" y="252222"/>
            <a:ext cx="1925955" cy="807720"/>
          </a:xfrm>
          <a:custGeom>
            <a:avLst/>
            <a:gdLst/>
            <a:ahLst/>
            <a:cxnLst/>
            <a:rect l="l" t="t" r="r" b="b"/>
            <a:pathLst>
              <a:path w="1925955" h="807719">
                <a:moveTo>
                  <a:pt x="0" y="403732"/>
                </a:moveTo>
                <a:lnTo>
                  <a:pt x="8790" y="348941"/>
                </a:lnTo>
                <a:lnTo>
                  <a:pt x="34395" y="296392"/>
                </a:lnTo>
                <a:lnTo>
                  <a:pt x="75667" y="246566"/>
                </a:lnTo>
                <a:lnTo>
                  <a:pt x="131460" y="199945"/>
                </a:lnTo>
                <a:lnTo>
                  <a:pt x="164443" y="177986"/>
                </a:lnTo>
                <a:lnTo>
                  <a:pt x="200626" y="157008"/>
                </a:lnTo>
                <a:lnTo>
                  <a:pt x="239865" y="137071"/>
                </a:lnTo>
                <a:lnTo>
                  <a:pt x="282017" y="118236"/>
                </a:lnTo>
                <a:lnTo>
                  <a:pt x="326939" y="100563"/>
                </a:lnTo>
                <a:lnTo>
                  <a:pt x="374486" y="84111"/>
                </a:lnTo>
                <a:lnTo>
                  <a:pt x="424516" y="68941"/>
                </a:lnTo>
                <a:lnTo>
                  <a:pt x="476885" y="55113"/>
                </a:lnTo>
                <a:lnTo>
                  <a:pt x="531450" y="42686"/>
                </a:lnTo>
                <a:lnTo>
                  <a:pt x="588068" y="31722"/>
                </a:lnTo>
                <a:lnTo>
                  <a:pt x="646594" y="22279"/>
                </a:lnTo>
                <a:lnTo>
                  <a:pt x="706885" y="14419"/>
                </a:lnTo>
                <a:lnTo>
                  <a:pt x="768799" y="8200"/>
                </a:lnTo>
                <a:lnTo>
                  <a:pt x="832191" y="3684"/>
                </a:lnTo>
                <a:lnTo>
                  <a:pt x="896918" y="931"/>
                </a:lnTo>
                <a:lnTo>
                  <a:pt x="962837" y="0"/>
                </a:lnTo>
                <a:lnTo>
                  <a:pt x="1028773" y="931"/>
                </a:lnTo>
                <a:lnTo>
                  <a:pt x="1093514" y="3684"/>
                </a:lnTo>
                <a:lnTo>
                  <a:pt x="1156919" y="8200"/>
                </a:lnTo>
                <a:lnTo>
                  <a:pt x="1218843" y="14419"/>
                </a:lnTo>
                <a:lnTo>
                  <a:pt x="1279144" y="22279"/>
                </a:lnTo>
                <a:lnTo>
                  <a:pt x="1337678" y="31722"/>
                </a:lnTo>
                <a:lnTo>
                  <a:pt x="1394301" y="42686"/>
                </a:lnTo>
                <a:lnTo>
                  <a:pt x="1448871" y="55113"/>
                </a:lnTo>
                <a:lnTo>
                  <a:pt x="1501244" y="68941"/>
                </a:lnTo>
                <a:lnTo>
                  <a:pt x="1551277" y="84111"/>
                </a:lnTo>
                <a:lnTo>
                  <a:pt x="1598826" y="100563"/>
                </a:lnTo>
                <a:lnTo>
                  <a:pt x="1643748" y="118236"/>
                </a:lnTo>
                <a:lnTo>
                  <a:pt x="1685900" y="137071"/>
                </a:lnTo>
                <a:lnTo>
                  <a:pt x="1725138" y="157008"/>
                </a:lnTo>
                <a:lnTo>
                  <a:pt x="1761320" y="177986"/>
                </a:lnTo>
                <a:lnTo>
                  <a:pt x="1794302" y="199945"/>
                </a:lnTo>
                <a:lnTo>
                  <a:pt x="1850091" y="246566"/>
                </a:lnTo>
                <a:lnTo>
                  <a:pt x="1891360" y="296392"/>
                </a:lnTo>
                <a:lnTo>
                  <a:pt x="1916962" y="348941"/>
                </a:lnTo>
                <a:lnTo>
                  <a:pt x="1925751" y="403732"/>
                </a:lnTo>
                <a:lnTo>
                  <a:pt x="1923530" y="431363"/>
                </a:lnTo>
                <a:lnTo>
                  <a:pt x="1906191" y="485067"/>
                </a:lnTo>
                <a:lnTo>
                  <a:pt x="1872612" y="536293"/>
                </a:lnTo>
                <a:lnTo>
                  <a:pt x="1823940" y="584558"/>
                </a:lnTo>
                <a:lnTo>
                  <a:pt x="1761320" y="629383"/>
                </a:lnTo>
                <a:lnTo>
                  <a:pt x="1725138" y="650355"/>
                </a:lnTo>
                <a:lnTo>
                  <a:pt x="1685900" y="670287"/>
                </a:lnTo>
                <a:lnTo>
                  <a:pt x="1643748" y="689117"/>
                </a:lnTo>
                <a:lnTo>
                  <a:pt x="1598826" y="706787"/>
                </a:lnTo>
                <a:lnTo>
                  <a:pt x="1551277" y="723236"/>
                </a:lnTo>
                <a:lnTo>
                  <a:pt x="1501244" y="738404"/>
                </a:lnTo>
                <a:lnTo>
                  <a:pt x="1448871" y="752230"/>
                </a:lnTo>
                <a:lnTo>
                  <a:pt x="1394301" y="764655"/>
                </a:lnTo>
                <a:lnTo>
                  <a:pt x="1337678" y="775618"/>
                </a:lnTo>
                <a:lnTo>
                  <a:pt x="1279144" y="785060"/>
                </a:lnTo>
                <a:lnTo>
                  <a:pt x="1218843" y="792920"/>
                </a:lnTo>
                <a:lnTo>
                  <a:pt x="1156919" y="799138"/>
                </a:lnTo>
                <a:lnTo>
                  <a:pt x="1093514" y="803654"/>
                </a:lnTo>
                <a:lnTo>
                  <a:pt x="1028773" y="806407"/>
                </a:lnTo>
                <a:lnTo>
                  <a:pt x="962837" y="807338"/>
                </a:lnTo>
                <a:lnTo>
                  <a:pt x="896918" y="806407"/>
                </a:lnTo>
                <a:lnTo>
                  <a:pt x="832191" y="803654"/>
                </a:lnTo>
                <a:lnTo>
                  <a:pt x="768799" y="799138"/>
                </a:lnTo>
                <a:lnTo>
                  <a:pt x="706885" y="792920"/>
                </a:lnTo>
                <a:lnTo>
                  <a:pt x="646594" y="785060"/>
                </a:lnTo>
                <a:lnTo>
                  <a:pt x="588068" y="775618"/>
                </a:lnTo>
                <a:lnTo>
                  <a:pt x="531450" y="764655"/>
                </a:lnTo>
                <a:lnTo>
                  <a:pt x="476885" y="752230"/>
                </a:lnTo>
                <a:lnTo>
                  <a:pt x="424516" y="738404"/>
                </a:lnTo>
                <a:lnTo>
                  <a:pt x="374486" y="723236"/>
                </a:lnTo>
                <a:lnTo>
                  <a:pt x="326939" y="706787"/>
                </a:lnTo>
                <a:lnTo>
                  <a:pt x="282017" y="689117"/>
                </a:lnTo>
                <a:lnTo>
                  <a:pt x="239865" y="670287"/>
                </a:lnTo>
                <a:lnTo>
                  <a:pt x="200626" y="650355"/>
                </a:lnTo>
                <a:lnTo>
                  <a:pt x="164443" y="629383"/>
                </a:lnTo>
                <a:lnTo>
                  <a:pt x="131460" y="607431"/>
                </a:lnTo>
                <a:lnTo>
                  <a:pt x="75667" y="560826"/>
                </a:lnTo>
                <a:lnTo>
                  <a:pt x="34395" y="511020"/>
                </a:lnTo>
                <a:lnTo>
                  <a:pt x="8790" y="4584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0999" y="49110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FarmOps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-9565" y="3010481"/>
            <a:ext cx="398861" cy="259067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6472582"/>
            <a:ext cx="12192000" cy="368300"/>
            <a:chOff x="0" y="6472582"/>
            <a:chExt cx="12192000" cy="36830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6493765"/>
              <a:ext cx="12189714" cy="3466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6472582"/>
              <a:ext cx="12192000" cy="346710"/>
            </a:xfrm>
            <a:custGeom>
              <a:avLst/>
              <a:gdLst/>
              <a:ahLst/>
              <a:cxnLst/>
              <a:rect l="l" t="t" r="r" b="b"/>
              <a:pathLst>
                <a:path w="12192000" h="346709">
                  <a:moveTo>
                    <a:pt x="12192000" y="0"/>
                  </a:moveTo>
                  <a:lnTo>
                    <a:pt x="0" y="0"/>
                  </a:lnTo>
                  <a:lnTo>
                    <a:pt x="0" y="346113"/>
                  </a:lnTo>
                  <a:lnTo>
                    <a:pt x="12192000" y="34611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63317D-B624-A236-B378-23C0AE415C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0658" y="-20879"/>
            <a:ext cx="224790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756" y="339079"/>
            <a:ext cx="695020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100"/>
              </a:spcBef>
            </a:pPr>
            <a:r>
              <a:rPr sz="3500" spc="-45" dirty="0"/>
              <a:t>IMPACT</a:t>
            </a:r>
            <a:r>
              <a:rPr sz="3500" spc="-275" dirty="0"/>
              <a:t> </a:t>
            </a:r>
            <a:r>
              <a:rPr sz="3500" dirty="0"/>
              <a:t>AND</a:t>
            </a:r>
            <a:r>
              <a:rPr sz="3500" spc="-10" dirty="0"/>
              <a:t> BENEFITS</a:t>
            </a:r>
          </a:p>
        </p:txBody>
      </p:sp>
      <p:sp>
        <p:nvSpPr>
          <p:cNvPr id="14" name="object 14"/>
          <p:cNvSpPr/>
          <p:nvPr/>
        </p:nvSpPr>
        <p:spPr>
          <a:xfrm>
            <a:off x="329768" y="252222"/>
            <a:ext cx="1925955" cy="807720"/>
          </a:xfrm>
          <a:custGeom>
            <a:avLst/>
            <a:gdLst/>
            <a:ahLst/>
            <a:cxnLst/>
            <a:rect l="l" t="t" r="r" b="b"/>
            <a:pathLst>
              <a:path w="1925955" h="807719">
                <a:moveTo>
                  <a:pt x="0" y="403732"/>
                </a:moveTo>
                <a:lnTo>
                  <a:pt x="8790" y="348941"/>
                </a:lnTo>
                <a:lnTo>
                  <a:pt x="34395" y="296392"/>
                </a:lnTo>
                <a:lnTo>
                  <a:pt x="75667" y="246566"/>
                </a:lnTo>
                <a:lnTo>
                  <a:pt x="131460" y="199945"/>
                </a:lnTo>
                <a:lnTo>
                  <a:pt x="164443" y="177986"/>
                </a:lnTo>
                <a:lnTo>
                  <a:pt x="200626" y="157008"/>
                </a:lnTo>
                <a:lnTo>
                  <a:pt x="239865" y="137071"/>
                </a:lnTo>
                <a:lnTo>
                  <a:pt x="282017" y="118236"/>
                </a:lnTo>
                <a:lnTo>
                  <a:pt x="326939" y="100563"/>
                </a:lnTo>
                <a:lnTo>
                  <a:pt x="374486" y="84111"/>
                </a:lnTo>
                <a:lnTo>
                  <a:pt x="424516" y="68941"/>
                </a:lnTo>
                <a:lnTo>
                  <a:pt x="476885" y="55113"/>
                </a:lnTo>
                <a:lnTo>
                  <a:pt x="531450" y="42686"/>
                </a:lnTo>
                <a:lnTo>
                  <a:pt x="588068" y="31722"/>
                </a:lnTo>
                <a:lnTo>
                  <a:pt x="646594" y="22279"/>
                </a:lnTo>
                <a:lnTo>
                  <a:pt x="706885" y="14419"/>
                </a:lnTo>
                <a:lnTo>
                  <a:pt x="768799" y="8200"/>
                </a:lnTo>
                <a:lnTo>
                  <a:pt x="832191" y="3684"/>
                </a:lnTo>
                <a:lnTo>
                  <a:pt x="896918" y="931"/>
                </a:lnTo>
                <a:lnTo>
                  <a:pt x="962837" y="0"/>
                </a:lnTo>
                <a:lnTo>
                  <a:pt x="1028773" y="931"/>
                </a:lnTo>
                <a:lnTo>
                  <a:pt x="1093514" y="3684"/>
                </a:lnTo>
                <a:lnTo>
                  <a:pt x="1156919" y="8200"/>
                </a:lnTo>
                <a:lnTo>
                  <a:pt x="1218843" y="14419"/>
                </a:lnTo>
                <a:lnTo>
                  <a:pt x="1279144" y="22279"/>
                </a:lnTo>
                <a:lnTo>
                  <a:pt x="1337678" y="31722"/>
                </a:lnTo>
                <a:lnTo>
                  <a:pt x="1394301" y="42686"/>
                </a:lnTo>
                <a:lnTo>
                  <a:pt x="1448871" y="55113"/>
                </a:lnTo>
                <a:lnTo>
                  <a:pt x="1501244" y="68941"/>
                </a:lnTo>
                <a:lnTo>
                  <a:pt x="1551277" y="84111"/>
                </a:lnTo>
                <a:lnTo>
                  <a:pt x="1598826" y="100563"/>
                </a:lnTo>
                <a:lnTo>
                  <a:pt x="1643748" y="118236"/>
                </a:lnTo>
                <a:lnTo>
                  <a:pt x="1685900" y="137071"/>
                </a:lnTo>
                <a:lnTo>
                  <a:pt x="1725138" y="157008"/>
                </a:lnTo>
                <a:lnTo>
                  <a:pt x="1761320" y="177986"/>
                </a:lnTo>
                <a:lnTo>
                  <a:pt x="1794302" y="199945"/>
                </a:lnTo>
                <a:lnTo>
                  <a:pt x="1850091" y="246566"/>
                </a:lnTo>
                <a:lnTo>
                  <a:pt x="1891360" y="296392"/>
                </a:lnTo>
                <a:lnTo>
                  <a:pt x="1916962" y="348941"/>
                </a:lnTo>
                <a:lnTo>
                  <a:pt x="1925751" y="403732"/>
                </a:lnTo>
                <a:lnTo>
                  <a:pt x="1923530" y="431363"/>
                </a:lnTo>
                <a:lnTo>
                  <a:pt x="1906191" y="485067"/>
                </a:lnTo>
                <a:lnTo>
                  <a:pt x="1872612" y="536293"/>
                </a:lnTo>
                <a:lnTo>
                  <a:pt x="1823940" y="584558"/>
                </a:lnTo>
                <a:lnTo>
                  <a:pt x="1761320" y="629383"/>
                </a:lnTo>
                <a:lnTo>
                  <a:pt x="1725138" y="650355"/>
                </a:lnTo>
                <a:lnTo>
                  <a:pt x="1685900" y="670287"/>
                </a:lnTo>
                <a:lnTo>
                  <a:pt x="1643748" y="689117"/>
                </a:lnTo>
                <a:lnTo>
                  <a:pt x="1598826" y="706787"/>
                </a:lnTo>
                <a:lnTo>
                  <a:pt x="1551277" y="723236"/>
                </a:lnTo>
                <a:lnTo>
                  <a:pt x="1501244" y="738404"/>
                </a:lnTo>
                <a:lnTo>
                  <a:pt x="1448871" y="752230"/>
                </a:lnTo>
                <a:lnTo>
                  <a:pt x="1394301" y="764655"/>
                </a:lnTo>
                <a:lnTo>
                  <a:pt x="1337678" y="775618"/>
                </a:lnTo>
                <a:lnTo>
                  <a:pt x="1279144" y="785060"/>
                </a:lnTo>
                <a:lnTo>
                  <a:pt x="1218843" y="792920"/>
                </a:lnTo>
                <a:lnTo>
                  <a:pt x="1156919" y="799138"/>
                </a:lnTo>
                <a:lnTo>
                  <a:pt x="1093514" y="803654"/>
                </a:lnTo>
                <a:lnTo>
                  <a:pt x="1028773" y="806407"/>
                </a:lnTo>
                <a:lnTo>
                  <a:pt x="962837" y="807338"/>
                </a:lnTo>
                <a:lnTo>
                  <a:pt x="896918" y="806407"/>
                </a:lnTo>
                <a:lnTo>
                  <a:pt x="832191" y="803654"/>
                </a:lnTo>
                <a:lnTo>
                  <a:pt x="768799" y="799138"/>
                </a:lnTo>
                <a:lnTo>
                  <a:pt x="706885" y="792920"/>
                </a:lnTo>
                <a:lnTo>
                  <a:pt x="646594" y="785060"/>
                </a:lnTo>
                <a:lnTo>
                  <a:pt x="588068" y="775618"/>
                </a:lnTo>
                <a:lnTo>
                  <a:pt x="531450" y="764655"/>
                </a:lnTo>
                <a:lnTo>
                  <a:pt x="476885" y="752230"/>
                </a:lnTo>
                <a:lnTo>
                  <a:pt x="424516" y="738404"/>
                </a:lnTo>
                <a:lnTo>
                  <a:pt x="374486" y="723236"/>
                </a:lnTo>
                <a:lnTo>
                  <a:pt x="326939" y="706787"/>
                </a:lnTo>
                <a:lnTo>
                  <a:pt x="282017" y="689117"/>
                </a:lnTo>
                <a:lnTo>
                  <a:pt x="239865" y="670287"/>
                </a:lnTo>
                <a:lnTo>
                  <a:pt x="200626" y="650355"/>
                </a:lnTo>
                <a:lnTo>
                  <a:pt x="164443" y="629383"/>
                </a:lnTo>
                <a:lnTo>
                  <a:pt x="131460" y="607431"/>
                </a:lnTo>
                <a:lnTo>
                  <a:pt x="75667" y="560826"/>
                </a:lnTo>
                <a:lnTo>
                  <a:pt x="34395" y="511020"/>
                </a:lnTo>
                <a:lnTo>
                  <a:pt x="8790" y="4584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0999" y="49110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FarmOps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6472582"/>
            <a:ext cx="12192000" cy="368300"/>
            <a:chOff x="0" y="6472582"/>
            <a:chExt cx="12192000" cy="36830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3765"/>
              <a:ext cx="12189714" cy="3466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6472582"/>
              <a:ext cx="12192000" cy="346710"/>
            </a:xfrm>
            <a:custGeom>
              <a:avLst/>
              <a:gdLst/>
              <a:ahLst/>
              <a:cxnLst/>
              <a:rect l="l" t="t" r="r" b="b"/>
              <a:pathLst>
                <a:path w="12192000" h="346709">
                  <a:moveTo>
                    <a:pt x="12192000" y="0"/>
                  </a:moveTo>
                  <a:lnTo>
                    <a:pt x="0" y="0"/>
                  </a:lnTo>
                  <a:lnTo>
                    <a:pt x="0" y="346113"/>
                  </a:lnTo>
                  <a:lnTo>
                    <a:pt x="12192000" y="34611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C80490-BE98-0525-52F2-D554F972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667"/>
            <a:ext cx="224790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756" y="342804"/>
            <a:ext cx="6950201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2757170" algn="l"/>
              </a:tabLst>
            </a:pPr>
            <a:r>
              <a:rPr sz="3500" spc="-10" dirty="0"/>
              <a:t>RESEARCH</a:t>
            </a:r>
            <a:r>
              <a:rPr sz="3500" dirty="0"/>
              <a:t>	AND</a:t>
            </a:r>
            <a:r>
              <a:rPr sz="3500" spc="-20" dirty="0"/>
              <a:t> </a:t>
            </a:r>
            <a:r>
              <a:rPr sz="3500"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88060" y="1424178"/>
            <a:ext cx="10003740" cy="341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300" dirty="0"/>
              <a:t>• </a:t>
            </a:r>
            <a:r>
              <a:rPr lang="en-IN" sz="1300" b="1" dirty="0"/>
              <a:t>Department of Food &amp; Public Distribution, Government of India</a:t>
            </a:r>
            <a:r>
              <a:rPr lang="en-IN" sz="1300" dirty="0"/>
              <a:t> – Information on food-grain procurement and procurement operations.</a:t>
            </a:r>
          </a:p>
          <a:p>
            <a:endParaRPr lang="en-IN" sz="1300" dirty="0"/>
          </a:p>
          <a:p>
            <a:r>
              <a:rPr lang="en-IN" sz="1300" dirty="0"/>
              <a:t>• </a:t>
            </a:r>
            <a:r>
              <a:rPr lang="en-IN" sz="1300" b="1" dirty="0"/>
              <a:t>Smart India Hackathon 2026, Problem Statement ID: 26032</a:t>
            </a:r>
            <a:r>
              <a:rPr lang="en-IN" sz="1300" dirty="0"/>
              <a:t> – Problem statement regarding waiting times, procurement schedules, and procurement status for farmers.</a:t>
            </a:r>
          </a:p>
          <a:p>
            <a:endParaRPr lang="en-IN" sz="1300" dirty="0"/>
          </a:p>
          <a:p>
            <a:r>
              <a:rPr lang="en-IN" sz="1300" dirty="0"/>
              <a:t>• </a:t>
            </a:r>
            <a:r>
              <a:rPr lang="en-IN" sz="1300" b="1" dirty="0"/>
              <a:t>F. Ricci, L. Rokach, B. Shapira, Recommender Systems Handbook, Springer, 2022</a:t>
            </a:r>
            <a:r>
              <a:rPr lang="en-IN" sz="1300" dirty="0"/>
              <a:t> – Reference for recommendation systems and intelligent decision-making.</a:t>
            </a:r>
          </a:p>
          <a:p>
            <a:endParaRPr lang="en-IN" sz="1300" dirty="0"/>
          </a:p>
          <a:p>
            <a:r>
              <a:rPr lang="en-IN" sz="1300" dirty="0"/>
              <a:t>• </a:t>
            </a:r>
            <a:r>
              <a:rPr lang="en-IN" sz="1300" b="1" dirty="0"/>
              <a:t>F. Pedregosa et al., Scikit-learn: Machine Learning in Python, Journal of Machine Learning Research, 2011</a:t>
            </a:r>
            <a:r>
              <a:rPr lang="en-IN" sz="1300" dirty="0"/>
              <a:t> – Reference for implementing lightweight machine-learning models.</a:t>
            </a:r>
          </a:p>
          <a:p>
            <a:endParaRPr lang="en-IN" sz="1300" dirty="0"/>
          </a:p>
          <a:p>
            <a:r>
              <a:rPr lang="en-IN" sz="1300" dirty="0"/>
              <a:t>• </a:t>
            </a:r>
            <a:r>
              <a:rPr lang="en-IN" sz="1300" b="1" dirty="0"/>
              <a:t>FastAPI – Modern, High-Performance Web Framework for Building APIs with Python</a:t>
            </a:r>
            <a:r>
              <a:rPr lang="en-IN" sz="1300" dirty="0"/>
              <a:t> – Backend API development and integration.</a:t>
            </a:r>
          </a:p>
          <a:p>
            <a:endParaRPr lang="en-IN" sz="1300" dirty="0"/>
          </a:p>
          <a:p>
            <a:r>
              <a:rPr lang="en-IN" sz="1300" dirty="0"/>
              <a:t>• </a:t>
            </a:r>
            <a:r>
              <a:rPr lang="en-IN" sz="1300" b="1" dirty="0"/>
              <a:t>PostgreSQL – Open Source Object-Relational Database Management System</a:t>
            </a:r>
            <a:r>
              <a:rPr lang="en-IN" sz="1300" dirty="0"/>
              <a:t> – Storage and management of farmer, booking, procurement, and payment data.</a:t>
            </a:r>
          </a:p>
        </p:txBody>
      </p:sp>
      <p:sp>
        <p:nvSpPr>
          <p:cNvPr id="5" name="object 5"/>
          <p:cNvSpPr/>
          <p:nvPr/>
        </p:nvSpPr>
        <p:spPr>
          <a:xfrm>
            <a:off x="329768" y="252222"/>
            <a:ext cx="1925955" cy="807720"/>
          </a:xfrm>
          <a:custGeom>
            <a:avLst/>
            <a:gdLst/>
            <a:ahLst/>
            <a:cxnLst/>
            <a:rect l="l" t="t" r="r" b="b"/>
            <a:pathLst>
              <a:path w="1925955" h="807719">
                <a:moveTo>
                  <a:pt x="0" y="403732"/>
                </a:moveTo>
                <a:lnTo>
                  <a:pt x="8790" y="348941"/>
                </a:lnTo>
                <a:lnTo>
                  <a:pt x="34395" y="296392"/>
                </a:lnTo>
                <a:lnTo>
                  <a:pt x="75667" y="246566"/>
                </a:lnTo>
                <a:lnTo>
                  <a:pt x="131460" y="199945"/>
                </a:lnTo>
                <a:lnTo>
                  <a:pt x="164443" y="177986"/>
                </a:lnTo>
                <a:lnTo>
                  <a:pt x="200626" y="157008"/>
                </a:lnTo>
                <a:lnTo>
                  <a:pt x="239865" y="137071"/>
                </a:lnTo>
                <a:lnTo>
                  <a:pt x="282017" y="118236"/>
                </a:lnTo>
                <a:lnTo>
                  <a:pt x="326939" y="100563"/>
                </a:lnTo>
                <a:lnTo>
                  <a:pt x="374486" y="84111"/>
                </a:lnTo>
                <a:lnTo>
                  <a:pt x="424516" y="68941"/>
                </a:lnTo>
                <a:lnTo>
                  <a:pt x="476885" y="55113"/>
                </a:lnTo>
                <a:lnTo>
                  <a:pt x="531450" y="42686"/>
                </a:lnTo>
                <a:lnTo>
                  <a:pt x="588068" y="31722"/>
                </a:lnTo>
                <a:lnTo>
                  <a:pt x="646594" y="22279"/>
                </a:lnTo>
                <a:lnTo>
                  <a:pt x="706885" y="14419"/>
                </a:lnTo>
                <a:lnTo>
                  <a:pt x="768799" y="8200"/>
                </a:lnTo>
                <a:lnTo>
                  <a:pt x="832191" y="3684"/>
                </a:lnTo>
                <a:lnTo>
                  <a:pt x="896918" y="931"/>
                </a:lnTo>
                <a:lnTo>
                  <a:pt x="962837" y="0"/>
                </a:lnTo>
                <a:lnTo>
                  <a:pt x="1028773" y="931"/>
                </a:lnTo>
                <a:lnTo>
                  <a:pt x="1093514" y="3684"/>
                </a:lnTo>
                <a:lnTo>
                  <a:pt x="1156919" y="8200"/>
                </a:lnTo>
                <a:lnTo>
                  <a:pt x="1218843" y="14419"/>
                </a:lnTo>
                <a:lnTo>
                  <a:pt x="1279144" y="22279"/>
                </a:lnTo>
                <a:lnTo>
                  <a:pt x="1337678" y="31722"/>
                </a:lnTo>
                <a:lnTo>
                  <a:pt x="1394301" y="42686"/>
                </a:lnTo>
                <a:lnTo>
                  <a:pt x="1448871" y="55113"/>
                </a:lnTo>
                <a:lnTo>
                  <a:pt x="1501244" y="68941"/>
                </a:lnTo>
                <a:lnTo>
                  <a:pt x="1551277" y="84111"/>
                </a:lnTo>
                <a:lnTo>
                  <a:pt x="1598826" y="100563"/>
                </a:lnTo>
                <a:lnTo>
                  <a:pt x="1643748" y="118236"/>
                </a:lnTo>
                <a:lnTo>
                  <a:pt x="1685900" y="137071"/>
                </a:lnTo>
                <a:lnTo>
                  <a:pt x="1725138" y="157008"/>
                </a:lnTo>
                <a:lnTo>
                  <a:pt x="1761320" y="177986"/>
                </a:lnTo>
                <a:lnTo>
                  <a:pt x="1794302" y="199945"/>
                </a:lnTo>
                <a:lnTo>
                  <a:pt x="1850091" y="246566"/>
                </a:lnTo>
                <a:lnTo>
                  <a:pt x="1891360" y="296392"/>
                </a:lnTo>
                <a:lnTo>
                  <a:pt x="1916962" y="348941"/>
                </a:lnTo>
                <a:lnTo>
                  <a:pt x="1925751" y="403732"/>
                </a:lnTo>
                <a:lnTo>
                  <a:pt x="1923530" y="431363"/>
                </a:lnTo>
                <a:lnTo>
                  <a:pt x="1906191" y="485067"/>
                </a:lnTo>
                <a:lnTo>
                  <a:pt x="1872612" y="536293"/>
                </a:lnTo>
                <a:lnTo>
                  <a:pt x="1823940" y="584558"/>
                </a:lnTo>
                <a:lnTo>
                  <a:pt x="1761320" y="629383"/>
                </a:lnTo>
                <a:lnTo>
                  <a:pt x="1725138" y="650355"/>
                </a:lnTo>
                <a:lnTo>
                  <a:pt x="1685900" y="670287"/>
                </a:lnTo>
                <a:lnTo>
                  <a:pt x="1643748" y="689117"/>
                </a:lnTo>
                <a:lnTo>
                  <a:pt x="1598826" y="706787"/>
                </a:lnTo>
                <a:lnTo>
                  <a:pt x="1551277" y="723236"/>
                </a:lnTo>
                <a:lnTo>
                  <a:pt x="1501244" y="738404"/>
                </a:lnTo>
                <a:lnTo>
                  <a:pt x="1448871" y="752230"/>
                </a:lnTo>
                <a:lnTo>
                  <a:pt x="1394301" y="764655"/>
                </a:lnTo>
                <a:lnTo>
                  <a:pt x="1337678" y="775618"/>
                </a:lnTo>
                <a:lnTo>
                  <a:pt x="1279144" y="785060"/>
                </a:lnTo>
                <a:lnTo>
                  <a:pt x="1218843" y="792920"/>
                </a:lnTo>
                <a:lnTo>
                  <a:pt x="1156919" y="799138"/>
                </a:lnTo>
                <a:lnTo>
                  <a:pt x="1093514" y="803654"/>
                </a:lnTo>
                <a:lnTo>
                  <a:pt x="1028773" y="806407"/>
                </a:lnTo>
                <a:lnTo>
                  <a:pt x="962837" y="807338"/>
                </a:lnTo>
                <a:lnTo>
                  <a:pt x="896918" y="806407"/>
                </a:lnTo>
                <a:lnTo>
                  <a:pt x="832191" y="803654"/>
                </a:lnTo>
                <a:lnTo>
                  <a:pt x="768799" y="799138"/>
                </a:lnTo>
                <a:lnTo>
                  <a:pt x="706885" y="792920"/>
                </a:lnTo>
                <a:lnTo>
                  <a:pt x="646594" y="785060"/>
                </a:lnTo>
                <a:lnTo>
                  <a:pt x="588068" y="775618"/>
                </a:lnTo>
                <a:lnTo>
                  <a:pt x="531450" y="764655"/>
                </a:lnTo>
                <a:lnTo>
                  <a:pt x="476885" y="752230"/>
                </a:lnTo>
                <a:lnTo>
                  <a:pt x="424516" y="738404"/>
                </a:lnTo>
                <a:lnTo>
                  <a:pt x="374486" y="723236"/>
                </a:lnTo>
                <a:lnTo>
                  <a:pt x="326939" y="706787"/>
                </a:lnTo>
                <a:lnTo>
                  <a:pt x="282017" y="689117"/>
                </a:lnTo>
                <a:lnTo>
                  <a:pt x="239865" y="670287"/>
                </a:lnTo>
                <a:lnTo>
                  <a:pt x="200626" y="650355"/>
                </a:lnTo>
                <a:lnTo>
                  <a:pt x="164443" y="629383"/>
                </a:lnTo>
                <a:lnTo>
                  <a:pt x="131460" y="607431"/>
                </a:lnTo>
                <a:lnTo>
                  <a:pt x="75667" y="560826"/>
                </a:lnTo>
                <a:lnTo>
                  <a:pt x="34395" y="511020"/>
                </a:lnTo>
                <a:lnTo>
                  <a:pt x="8790" y="458495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0999" y="491109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FarmOps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6472582"/>
            <a:ext cx="12192000" cy="368300"/>
            <a:chOff x="0" y="6472582"/>
            <a:chExt cx="12192000" cy="3683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3765"/>
              <a:ext cx="12189714" cy="34669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6472582"/>
              <a:ext cx="12192000" cy="346710"/>
            </a:xfrm>
            <a:custGeom>
              <a:avLst/>
              <a:gdLst/>
              <a:ahLst/>
              <a:cxnLst/>
              <a:rect l="l" t="t" r="r" b="b"/>
              <a:pathLst>
                <a:path w="12192000" h="346709">
                  <a:moveTo>
                    <a:pt x="12192000" y="0"/>
                  </a:moveTo>
                  <a:lnTo>
                    <a:pt x="0" y="0"/>
                  </a:lnTo>
                  <a:lnTo>
                    <a:pt x="0" y="346113"/>
                  </a:lnTo>
                  <a:lnTo>
                    <a:pt x="12192000" y="34611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1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E2A04C-09B7-CD9E-56BE-A45EE6BBE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38708"/>
            <a:ext cx="2247900" cy="1057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1028</Words>
  <Application>Microsoft Office PowerPoint</Application>
  <PresentationFormat>Widescreen</PresentationFormat>
  <Paragraphs>111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Wingdings</vt:lpstr>
      <vt:lpstr>Office Theme</vt:lpstr>
      <vt:lpstr>SMART INDIA HACKATHON 2026</vt:lpstr>
      <vt:lpstr>Smart Agricultural Procurement &amp; Queue Management System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Abdullah Kapadia</cp:lastModifiedBy>
  <cp:revision>12</cp:revision>
  <dcterms:created xsi:type="dcterms:W3CDTF">2025-09-15T13:31:07Z</dcterms:created>
  <dcterms:modified xsi:type="dcterms:W3CDTF">2026-09-04T10:56:35Z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2025-09-15T00:00:00Z</vt:filetime>
  </property>
  <property fmtid="{D5CDD505-2E9C-101B-9397-08002B2CF9AE}" pid="5" name="Producer">
    <vt:lpwstr>Microsoft® PowerPoint® LTSC</vt:lpwstr>
  </property>
</Properties>
</file>