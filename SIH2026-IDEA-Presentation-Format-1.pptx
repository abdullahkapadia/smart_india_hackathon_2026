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>
      <p:cViewPr varScale="1">
        <p:scale>
          <a:sx n="78" d="100"/>
          <a:sy n="78" d="100"/>
        </p:scale>
        <p:origin x="84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71C6F-5DF4-4236-894C-72EC805109A3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10C62D-5C1B-4374-B581-BD2B07824F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777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69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7955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7400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20899" y="221437"/>
            <a:ext cx="6950201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8060" y="1424178"/>
            <a:ext cx="8430260" cy="2951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550534" y="6581114"/>
            <a:ext cx="1394459" cy="1784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75390" y="6544767"/>
            <a:ext cx="16637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656770" y="851535"/>
            <a:ext cx="4638675" cy="5155565"/>
            <a:chOff x="5656770" y="851535"/>
            <a:chExt cx="4638675" cy="5155565"/>
          </a:xfrm>
        </p:grpSpPr>
        <p:sp>
          <p:nvSpPr>
            <p:cNvPr id="3" name="object 3"/>
            <p:cNvSpPr/>
            <p:nvPr/>
          </p:nvSpPr>
          <p:spPr>
            <a:xfrm>
              <a:off x="5656770" y="851535"/>
              <a:ext cx="4638675" cy="5155565"/>
            </a:xfrm>
            <a:custGeom>
              <a:avLst/>
              <a:gdLst/>
              <a:ahLst/>
              <a:cxnLst/>
              <a:rect l="l" t="t" r="r" b="b"/>
              <a:pathLst>
                <a:path w="4638675" h="5155565">
                  <a:moveTo>
                    <a:pt x="1873313" y="0"/>
                  </a:moveTo>
                  <a:lnTo>
                    <a:pt x="1180020" y="0"/>
                  </a:lnTo>
                  <a:lnTo>
                    <a:pt x="1147349" y="5788"/>
                  </a:lnTo>
                  <a:lnTo>
                    <a:pt x="1092152" y="48702"/>
                  </a:lnTo>
                  <a:lnTo>
                    <a:pt x="1072197" y="83565"/>
                  </a:lnTo>
                  <a:lnTo>
                    <a:pt x="726249" y="881126"/>
                  </a:lnTo>
                  <a:lnTo>
                    <a:pt x="713605" y="920626"/>
                  </a:lnTo>
                  <a:lnTo>
                    <a:pt x="709390" y="962723"/>
                  </a:lnTo>
                  <a:lnTo>
                    <a:pt x="713605" y="1004820"/>
                  </a:lnTo>
                  <a:lnTo>
                    <a:pt x="726249" y="1044320"/>
                  </a:lnTo>
                  <a:lnTo>
                    <a:pt x="1072197" y="1842007"/>
                  </a:lnTo>
                  <a:lnTo>
                    <a:pt x="1092168" y="1876837"/>
                  </a:lnTo>
                  <a:lnTo>
                    <a:pt x="1118552" y="1903602"/>
                  </a:lnTo>
                  <a:lnTo>
                    <a:pt x="786955" y="2668269"/>
                  </a:lnTo>
                  <a:lnTo>
                    <a:pt x="769411" y="2714122"/>
                  </a:lnTo>
                  <a:lnTo>
                    <a:pt x="756880" y="2762295"/>
                  </a:lnTo>
                  <a:lnTo>
                    <a:pt x="749361" y="2812013"/>
                  </a:lnTo>
                  <a:lnTo>
                    <a:pt x="746855" y="2862500"/>
                  </a:lnTo>
                  <a:lnTo>
                    <a:pt x="749361" y="2912981"/>
                  </a:lnTo>
                  <a:lnTo>
                    <a:pt x="756880" y="2962681"/>
                  </a:lnTo>
                  <a:lnTo>
                    <a:pt x="769411" y="3010824"/>
                  </a:lnTo>
                  <a:lnTo>
                    <a:pt x="786955" y="3056636"/>
                  </a:lnTo>
                  <a:lnTo>
                    <a:pt x="1610550" y="4956022"/>
                  </a:lnTo>
                  <a:lnTo>
                    <a:pt x="1635991" y="5005818"/>
                  </a:lnTo>
                  <a:lnTo>
                    <a:pt x="1666114" y="5049317"/>
                  </a:lnTo>
                  <a:lnTo>
                    <a:pt x="1700357" y="5086022"/>
                  </a:lnTo>
                  <a:lnTo>
                    <a:pt x="1738162" y="5115434"/>
                  </a:lnTo>
                  <a:lnTo>
                    <a:pt x="1778968" y="5137059"/>
                  </a:lnTo>
                  <a:lnTo>
                    <a:pt x="1822215" y="5150398"/>
                  </a:lnTo>
                  <a:lnTo>
                    <a:pt x="1867344" y="5154955"/>
                  </a:lnTo>
                  <a:lnTo>
                    <a:pt x="3518090" y="5154955"/>
                  </a:lnTo>
                  <a:lnTo>
                    <a:pt x="3562089" y="5150398"/>
                  </a:lnTo>
                  <a:lnTo>
                    <a:pt x="3604828" y="5137059"/>
                  </a:lnTo>
                  <a:lnTo>
                    <a:pt x="3645500" y="5115434"/>
                  </a:lnTo>
                  <a:lnTo>
                    <a:pt x="3683294" y="5086022"/>
                  </a:lnTo>
                  <a:lnTo>
                    <a:pt x="3717402" y="5049317"/>
                  </a:lnTo>
                  <a:lnTo>
                    <a:pt x="3747017" y="5005818"/>
                  </a:lnTo>
                  <a:lnTo>
                    <a:pt x="3771328" y="4956022"/>
                  </a:lnTo>
                  <a:lnTo>
                    <a:pt x="4598479" y="3056635"/>
                  </a:lnTo>
                  <a:lnTo>
                    <a:pt x="4616023" y="3010824"/>
                  </a:lnTo>
                  <a:lnTo>
                    <a:pt x="4628554" y="2962681"/>
                  </a:lnTo>
                  <a:lnTo>
                    <a:pt x="4636073" y="2912981"/>
                  </a:lnTo>
                  <a:lnTo>
                    <a:pt x="4638579" y="2862500"/>
                  </a:lnTo>
                  <a:lnTo>
                    <a:pt x="4636073" y="2812013"/>
                  </a:lnTo>
                  <a:lnTo>
                    <a:pt x="4628554" y="2762295"/>
                  </a:lnTo>
                  <a:lnTo>
                    <a:pt x="4616023" y="2714122"/>
                  </a:lnTo>
                  <a:lnTo>
                    <a:pt x="4598479" y="2668269"/>
                  </a:lnTo>
                  <a:lnTo>
                    <a:pt x="4270937" y="1916176"/>
                  </a:lnTo>
                  <a:lnTo>
                    <a:pt x="1176972" y="1916176"/>
                  </a:lnTo>
                  <a:lnTo>
                    <a:pt x="1168640" y="1915798"/>
                  </a:lnTo>
                  <a:lnTo>
                    <a:pt x="1160414" y="1914683"/>
                  </a:lnTo>
                  <a:lnTo>
                    <a:pt x="1152308" y="1912854"/>
                  </a:lnTo>
                  <a:lnTo>
                    <a:pt x="1144503" y="1910387"/>
                  </a:lnTo>
                  <a:lnTo>
                    <a:pt x="1125029" y="1899539"/>
                  </a:lnTo>
                  <a:lnTo>
                    <a:pt x="1143698" y="1856739"/>
                  </a:lnTo>
                  <a:lnTo>
                    <a:pt x="1168717" y="1798954"/>
                  </a:lnTo>
                  <a:lnTo>
                    <a:pt x="1131925" y="1758499"/>
                  </a:lnTo>
                  <a:lnTo>
                    <a:pt x="817054" y="1035050"/>
                  </a:lnTo>
                  <a:lnTo>
                    <a:pt x="802100" y="962723"/>
                  </a:lnTo>
                  <a:lnTo>
                    <a:pt x="805838" y="925393"/>
                  </a:lnTo>
                  <a:lnTo>
                    <a:pt x="1123759" y="183261"/>
                  </a:lnTo>
                  <a:lnTo>
                    <a:pt x="1164034" y="129047"/>
                  </a:lnTo>
                  <a:lnTo>
                    <a:pt x="1219263" y="109219"/>
                  </a:lnTo>
                  <a:lnTo>
                    <a:pt x="1990783" y="109219"/>
                  </a:lnTo>
                  <a:lnTo>
                    <a:pt x="1979612" y="83565"/>
                  </a:lnTo>
                  <a:lnTo>
                    <a:pt x="1960252" y="48702"/>
                  </a:lnTo>
                  <a:lnTo>
                    <a:pt x="1934845" y="22399"/>
                  </a:lnTo>
                  <a:lnTo>
                    <a:pt x="1905246" y="5788"/>
                  </a:lnTo>
                  <a:lnTo>
                    <a:pt x="1873313" y="0"/>
                  </a:lnTo>
                  <a:close/>
                </a:path>
                <a:path w="4638675" h="5155565">
                  <a:moveTo>
                    <a:pt x="673671" y="3125216"/>
                  </a:moveTo>
                  <a:lnTo>
                    <a:pt x="272351" y="3125216"/>
                  </a:lnTo>
                  <a:lnTo>
                    <a:pt x="253499" y="3128559"/>
                  </a:lnTo>
                  <a:lnTo>
                    <a:pt x="221559" y="3153344"/>
                  </a:lnTo>
                  <a:lnTo>
                    <a:pt x="9715" y="3635248"/>
                  </a:lnTo>
                  <a:lnTo>
                    <a:pt x="0" y="3682491"/>
                  </a:lnTo>
                  <a:lnTo>
                    <a:pt x="2428" y="3706864"/>
                  </a:lnTo>
                  <a:lnTo>
                    <a:pt x="209994" y="4191380"/>
                  </a:lnTo>
                  <a:lnTo>
                    <a:pt x="236315" y="4226814"/>
                  </a:lnTo>
                  <a:lnTo>
                    <a:pt x="272351" y="4239768"/>
                  </a:lnTo>
                  <a:lnTo>
                    <a:pt x="673671" y="4239768"/>
                  </a:lnTo>
                  <a:lnTo>
                    <a:pt x="724034" y="4211585"/>
                  </a:lnTo>
                  <a:lnTo>
                    <a:pt x="936307" y="3729735"/>
                  </a:lnTo>
                  <a:lnTo>
                    <a:pt x="946118" y="3682491"/>
                  </a:lnTo>
                  <a:lnTo>
                    <a:pt x="943665" y="3658119"/>
                  </a:lnTo>
                  <a:lnTo>
                    <a:pt x="735266" y="3173476"/>
                  </a:lnTo>
                  <a:lnTo>
                    <a:pt x="709326" y="3138154"/>
                  </a:lnTo>
                  <a:lnTo>
                    <a:pt x="673671" y="3125216"/>
                  </a:lnTo>
                  <a:close/>
                </a:path>
                <a:path w="4638675" h="5155565">
                  <a:moveTo>
                    <a:pt x="3518090" y="569976"/>
                  </a:moveTo>
                  <a:lnTo>
                    <a:pt x="2192591" y="569976"/>
                  </a:lnTo>
                  <a:lnTo>
                    <a:pt x="2324036" y="871854"/>
                  </a:lnTo>
                  <a:lnTo>
                    <a:pt x="2336680" y="911353"/>
                  </a:lnTo>
                  <a:lnTo>
                    <a:pt x="2340895" y="953436"/>
                  </a:lnTo>
                  <a:lnTo>
                    <a:pt x="2336680" y="995495"/>
                  </a:lnTo>
                  <a:lnTo>
                    <a:pt x="2323981" y="1035050"/>
                  </a:lnTo>
                  <a:lnTo>
                    <a:pt x="1976691" y="1832610"/>
                  </a:lnTo>
                  <a:lnTo>
                    <a:pt x="1957276" y="1867473"/>
                  </a:lnTo>
                  <a:lnTo>
                    <a:pt x="1902253" y="1910387"/>
                  </a:lnTo>
                  <a:lnTo>
                    <a:pt x="1870265" y="1916176"/>
                  </a:lnTo>
                  <a:lnTo>
                    <a:pt x="4270937" y="1916176"/>
                  </a:lnTo>
                  <a:lnTo>
                    <a:pt x="3771328" y="768985"/>
                  </a:lnTo>
                  <a:lnTo>
                    <a:pt x="3747017" y="719172"/>
                  </a:lnTo>
                  <a:lnTo>
                    <a:pt x="3717402" y="675658"/>
                  </a:lnTo>
                  <a:lnTo>
                    <a:pt x="3683294" y="638939"/>
                  </a:lnTo>
                  <a:lnTo>
                    <a:pt x="3645500" y="609514"/>
                  </a:lnTo>
                  <a:lnTo>
                    <a:pt x="3604828" y="587880"/>
                  </a:lnTo>
                  <a:lnTo>
                    <a:pt x="3562089" y="574535"/>
                  </a:lnTo>
                  <a:lnTo>
                    <a:pt x="3518090" y="569976"/>
                  </a:lnTo>
                  <a:close/>
                </a:path>
                <a:path w="4638675" h="5155565">
                  <a:moveTo>
                    <a:pt x="2097722" y="569976"/>
                  </a:moveTo>
                  <a:lnTo>
                    <a:pt x="1867344" y="569976"/>
                  </a:lnTo>
                  <a:lnTo>
                    <a:pt x="1822215" y="574535"/>
                  </a:lnTo>
                  <a:lnTo>
                    <a:pt x="1778968" y="587880"/>
                  </a:lnTo>
                  <a:lnTo>
                    <a:pt x="1738162" y="609514"/>
                  </a:lnTo>
                  <a:lnTo>
                    <a:pt x="1700357" y="638939"/>
                  </a:lnTo>
                  <a:lnTo>
                    <a:pt x="1666114" y="675658"/>
                  </a:lnTo>
                  <a:lnTo>
                    <a:pt x="1635991" y="719172"/>
                  </a:lnTo>
                  <a:lnTo>
                    <a:pt x="1610550" y="768985"/>
                  </a:lnTo>
                  <a:lnTo>
                    <a:pt x="1179639" y="1762632"/>
                  </a:lnTo>
                  <a:lnTo>
                    <a:pt x="1167574" y="1790700"/>
                  </a:lnTo>
                  <a:lnTo>
                    <a:pt x="1187590" y="1801814"/>
                  </a:lnTo>
                  <a:lnTo>
                    <a:pt x="1194429" y="1804009"/>
                  </a:lnTo>
                  <a:lnTo>
                    <a:pt x="1201626" y="1805638"/>
                  </a:lnTo>
                  <a:lnTo>
                    <a:pt x="1208942" y="1806624"/>
                  </a:lnTo>
                  <a:lnTo>
                    <a:pt x="1216342" y="1806955"/>
                  </a:lnTo>
                  <a:lnTo>
                    <a:pt x="1831022" y="1806955"/>
                  </a:lnTo>
                  <a:lnTo>
                    <a:pt x="1885568" y="1787064"/>
                  </a:lnTo>
                  <a:lnTo>
                    <a:pt x="1925256" y="1732788"/>
                  </a:lnTo>
                  <a:lnTo>
                    <a:pt x="2233231" y="1025651"/>
                  </a:lnTo>
                  <a:lnTo>
                    <a:pt x="2248180" y="953436"/>
                  </a:lnTo>
                  <a:lnTo>
                    <a:pt x="2244447" y="916102"/>
                  </a:lnTo>
                  <a:lnTo>
                    <a:pt x="2233231" y="881126"/>
                  </a:lnTo>
                  <a:lnTo>
                    <a:pt x="2097722" y="569976"/>
                  </a:lnTo>
                  <a:close/>
                </a:path>
                <a:path w="4638675" h="5155565">
                  <a:moveTo>
                    <a:pt x="1990783" y="109219"/>
                  </a:moveTo>
                  <a:lnTo>
                    <a:pt x="1833943" y="109219"/>
                  </a:lnTo>
                  <a:lnTo>
                    <a:pt x="1862294" y="114341"/>
                  </a:lnTo>
                  <a:lnTo>
                    <a:pt x="1888537" y="129047"/>
                  </a:lnTo>
                  <a:lnTo>
                    <a:pt x="1911042" y="152350"/>
                  </a:lnTo>
                  <a:lnTo>
                    <a:pt x="1928177" y="183261"/>
                  </a:lnTo>
                  <a:lnTo>
                    <a:pt x="2092134" y="559688"/>
                  </a:lnTo>
                  <a:lnTo>
                    <a:pt x="2187003" y="559688"/>
                  </a:lnTo>
                  <a:lnTo>
                    <a:pt x="1990783" y="109219"/>
                  </a:lnTo>
                  <a:close/>
                </a:path>
              </a:pathLst>
            </a:custGeom>
            <a:solidFill>
              <a:srgbClr val="7E7E7E">
                <a:alpha val="1490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62877" y="1974469"/>
              <a:ext cx="3203448" cy="3426205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4252277" y="905252"/>
            <a:ext cx="2808986" cy="5520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500" b="1" dirty="0">
                <a:latin typeface="Times New Roman"/>
                <a:cs typeface="Times New Roman"/>
              </a:rPr>
              <a:t>TITLE</a:t>
            </a:r>
            <a:r>
              <a:rPr sz="3500" b="1" spc="-10" dirty="0">
                <a:latin typeface="Times New Roman"/>
                <a:cs typeface="Times New Roman"/>
              </a:rPr>
              <a:t> </a:t>
            </a:r>
            <a:r>
              <a:rPr sz="3500" b="1" spc="-50" dirty="0">
                <a:latin typeface="Times New Roman"/>
                <a:cs typeface="Times New Roman"/>
              </a:rPr>
              <a:t>PAGE</a:t>
            </a:r>
            <a:endParaRPr sz="35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470152" y="153161"/>
            <a:ext cx="808355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114" dirty="0">
                <a:solidFill>
                  <a:srgbClr val="1F487C"/>
                </a:solidFill>
              </a:rPr>
              <a:t>SMART</a:t>
            </a:r>
            <a:r>
              <a:rPr sz="4000" spc="-30" dirty="0">
                <a:solidFill>
                  <a:srgbClr val="1F487C"/>
                </a:solidFill>
              </a:rPr>
              <a:t> </a:t>
            </a:r>
            <a:r>
              <a:rPr sz="4000" spc="90" dirty="0">
                <a:solidFill>
                  <a:srgbClr val="1F487C"/>
                </a:solidFill>
              </a:rPr>
              <a:t>INDIA</a:t>
            </a:r>
            <a:r>
              <a:rPr sz="4000" spc="-15" dirty="0">
                <a:solidFill>
                  <a:srgbClr val="1F487C"/>
                </a:solidFill>
              </a:rPr>
              <a:t> </a:t>
            </a:r>
            <a:r>
              <a:rPr sz="4000" dirty="0">
                <a:solidFill>
                  <a:srgbClr val="1F487C"/>
                </a:solidFill>
              </a:rPr>
              <a:t>HACKATHON</a:t>
            </a:r>
            <a:r>
              <a:rPr sz="4000" spc="-30" dirty="0">
                <a:solidFill>
                  <a:srgbClr val="1F487C"/>
                </a:solidFill>
              </a:rPr>
              <a:t> </a:t>
            </a:r>
            <a:r>
              <a:rPr sz="4000" spc="-55" dirty="0">
                <a:solidFill>
                  <a:srgbClr val="1F487C"/>
                </a:solidFill>
              </a:rPr>
              <a:t>202</a:t>
            </a:r>
            <a:r>
              <a:rPr lang="en-IN" sz="4000" spc="-55">
                <a:solidFill>
                  <a:srgbClr val="1F487C"/>
                </a:solidFill>
              </a:rPr>
              <a:t>6</a:t>
            </a:r>
            <a:endParaRPr sz="4000"/>
          </a:p>
        </p:txBody>
      </p:sp>
      <p:sp>
        <p:nvSpPr>
          <p:cNvPr id="7" name="object 7"/>
          <p:cNvSpPr txBox="1"/>
          <p:nvPr/>
        </p:nvSpPr>
        <p:spPr>
          <a:xfrm>
            <a:off x="410057" y="2556763"/>
            <a:ext cx="5114290" cy="34990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Problem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Statement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ID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–</a:t>
            </a:r>
            <a:r>
              <a:rPr sz="2000" b="1" spc="-10" dirty="0">
                <a:latin typeface="Arial"/>
                <a:cs typeface="Arial"/>
              </a:rPr>
              <a:t> SIH</a:t>
            </a:r>
            <a:r>
              <a:rPr lang="en-IN" sz="2000" b="1" dirty="0"/>
              <a:t>26032</a:t>
            </a:r>
            <a:endParaRPr sz="2000" b="1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5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Problem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Statement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Title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-</a:t>
            </a:r>
            <a:r>
              <a:rPr lang="en-IN" sz="2000" b="1" dirty="0">
                <a:latin typeface="Arial"/>
                <a:cs typeface="Arial"/>
              </a:rPr>
              <a:t> </a:t>
            </a:r>
            <a:r>
              <a:rPr lang="en-IN" sz="1300" b="1" dirty="0"/>
              <a:t>Smart Agricultural Procurement &amp; Queue Management System</a:t>
            </a: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endParaRPr lang="en-IN" sz="1200" b="1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Theme-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Smart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lang="en-IN" sz="2000" b="1" dirty="0"/>
              <a:t>Automation</a:t>
            </a:r>
          </a:p>
          <a:p>
            <a:pPr marL="299085" indent="-286385">
              <a:lnSpc>
                <a:spcPct val="100000"/>
              </a:lnSpc>
              <a:buFont typeface="Arial MT"/>
              <a:buChar char="•"/>
              <a:tabLst>
                <a:tab pos="299085" algn="l"/>
              </a:tabLst>
            </a:pPr>
            <a:endParaRPr sz="2000" b="1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PS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Category-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Software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spc="-20" dirty="0">
                <a:latin typeface="Arial"/>
                <a:cs typeface="Arial"/>
              </a:rPr>
              <a:t>Team</a:t>
            </a:r>
            <a:r>
              <a:rPr sz="2000" b="1" spc="-110" dirty="0">
                <a:latin typeface="Arial"/>
                <a:cs typeface="Arial"/>
              </a:rPr>
              <a:t> </a:t>
            </a:r>
            <a:r>
              <a:rPr sz="2000" b="1" spc="-25" dirty="0">
                <a:latin typeface="Arial"/>
                <a:cs typeface="Arial"/>
              </a:rPr>
              <a:t>ID-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5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spc="-20" dirty="0">
                <a:latin typeface="Arial"/>
                <a:cs typeface="Arial"/>
              </a:rPr>
              <a:t>Team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Name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(Registered</a:t>
            </a:r>
            <a:r>
              <a:rPr sz="2000" b="1" spc="-8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on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portal)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ACE266-032D-DB03-9BCE-31AABB741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245" y="0"/>
            <a:ext cx="2247900" cy="10572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40278"/>
            <a:ext cx="12192000" cy="400146"/>
            <a:chOff x="0" y="6472582"/>
            <a:chExt cx="12192000" cy="36788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619756" y="-73824"/>
            <a:ext cx="6950201" cy="1176142"/>
          </a:xfrm>
          <a:prstGeom prst="rect">
            <a:avLst/>
          </a:prstGeom>
        </p:spPr>
        <p:txBody>
          <a:bodyPr vert="horz" wrap="square" lIns="0" tIns="189407" rIns="0" bIns="0" rtlCol="0">
            <a:spAutoFit/>
          </a:bodyPr>
          <a:lstStyle/>
          <a:p>
            <a:pPr marL="289560" algn="ctr">
              <a:lnSpc>
                <a:spcPct val="100000"/>
              </a:lnSpc>
              <a:spcBef>
                <a:spcPts val="105"/>
              </a:spcBef>
            </a:pPr>
            <a:r>
              <a:rPr lang="en-IN" sz="3200" dirty="0"/>
              <a:t>Smart Agricultural Procurement &amp; Queue Management System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6713" y="1282245"/>
            <a:ext cx="5712461" cy="453778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354965" algn="l"/>
              </a:tabLst>
            </a:pPr>
            <a:r>
              <a:rPr sz="1400" b="1" u="sng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Proposed</a:t>
            </a:r>
            <a:r>
              <a:rPr sz="1400" b="1" u="sng" spc="-30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 </a:t>
            </a:r>
            <a:r>
              <a:rPr sz="1400" b="1" u="sng" spc="-10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Solution</a:t>
            </a:r>
            <a:endParaRPr lang="en-IN" sz="1400" b="1" dirty="0"/>
          </a:p>
          <a:p>
            <a:r>
              <a:rPr lang="en-IN" sz="1400" dirty="0"/>
              <a:t>• </a:t>
            </a:r>
            <a:r>
              <a:rPr lang="en-IN" sz="1400" b="1" dirty="0"/>
              <a:t>AI-enabled procurement platform</a:t>
            </a:r>
            <a:r>
              <a:rPr lang="en-IN" sz="1400" dirty="0"/>
              <a:t> for slot booking, queue tracking, procurement and payment updates.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Smart Slot Booking</a:t>
            </a:r>
            <a:r>
              <a:rPr lang="en-IN" sz="1400" dirty="0"/>
              <a:t> using farmer and centre data.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Real-Time Queue Tracking</a:t>
            </a:r>
            <a:r>
              <a:rPr lang="en-IN" sz="1400" dirty="0"/>
              <a:t> with digital tokens and live status.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AI Automation</a:t>
            </a:r>
            <a:r>
              <a:rPr lang="en-IN" sz="1400" dirty="0"/>
              <a:t> for queue prediction, recommendations and load optimization.</a:t>
            </a:r>
          </a:p>
          <a:p>
            <a:endParaRPr lang="en-IN" sz="1400" dirty="0"/>
          </a:p>
          <a:p>
            <a:endParaRPr lang="en-IN" sz="1400" dirty="0"/>
          </a:p>
          <a:p>
            <a:pPr marL="298450" indent="-2857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  <a:tabLst>
                <a:tab pos="354965" algn="l"/>
              </a:tabLst>
            </a:pPr>
            <a:r>
              <a:rPr sz="1400" b="1" dirty="0">
                <a:latin typeface="Arial"/>
                <a:cs typeface="Arial"/>
              </a:rPr>
              <a:t>Additional</a:t>
            </a:r>
            <a:r>
              <a:rPr sz="1400" b="1" spc="-40" dirty="0">
                <a:latin typeface="Arial"/>
                <a:cs typeface="Arial"/>
              </a:rPr>
              <a:t> </a:t>
            </a:r>
            <a:r>
              <a:rPr sz="1400" b="1" dirty="0">
                <a:latin typeface="Arial"/>
                <a:cs typeface="Arial"/>
              </a:rPr>
              <a:t>Innovative</a:t>
            </a:r>
            <a:r>
              <a:rPr sz="1400" b="1" spc="-40" dirty="0">
                <a:latin typeface="Arial"/>
                <a:cs typeface="Arial"/>
              </a:rPr>
              <a:t> </a:t>
            </a:r>
            <a:r>
              <a:rPr sz="1400" b="1" dirty="0">
                <a:latin typeface="Arial"/>
                <a:cs typeface="Arial"/>
              </a:rPr>
              <a:t>Features</a:t>
            </a:r>
            <a:r>
              <a:rPr sz="1400" b="1" spc="-50" dirty="0">
                <a:latin typeface="Arial"/>
                <a:cs typeface="Arial"/>
              </a:rPr>
              <a:t> :</a:t>
            </a:r>
            <a:endParaRPr sz="1400" dirty="0">
              <a:latin typeface="Arial"/>
              <a:cs typeface="Arial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AI Queue Prediction</a:t>
            </a:r>
            <a:r>
              <a:rPr lang="en-IN" sz="1400" dirty="0"/>
              <a:t> → Predicts queue length and estimated waiting time using real-time and historical centre data.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Smart Centre &amp; Slot Recommendation</a:t>
            </a:r>
            <a:r>
              <a:rPr lang="en-IN" sz="1400" dirty="0"/>
              <a:t> → Recommends the least-congested centre and optimal time slot.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Dynamic Capacity &amp; Load Balancing</a:t>
            </a:r>
            <a:r>
              <a:rPr lang="en-IN" sz="1400" dirty="0"/>
              <a:t> → Adjusts slot availability and distributes farmers across nearby centres.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Smart Waitlist &amp; No-Show Management</a:t>
            </a:r>
            <a:r>
              <a:rPr lang="en-IN" sz="1400" dirty="0"/>
              <a:t> → Reallocates cancelled/no-show slots to farmers on the waitlist.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AI Anomaly Detection</a:t>
            </a:r>
            <a:r>
              <a:rPr lang="en-IN" sz="1400" dirty="0"/>
              <a:t> → Flags duplicate bookings, abnormal quantities, repeated cancellations, and suspicious procurement activity. </a:t>
            </a:r>
          </a:p>
        </p:txBody>
      </p:sp>
      <p:sp>
        <p:nvSpPr>
          <p:cNvPr id="8" name="object 8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7BF58B-7A38-9C3D-4FA1-9630D845D7BB}"/>
              </a:ext>
            </a:extLst>
          </p:cNvPr>
          <p:cNvSpPr/>
          <p:nvPr/>
        </p:nvSpPr>
        <p:spPr>
          <a:xfrm>
            <a:off x="5867400" y="1312447"/>
            <a:ext cx="6245862" cy="50687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3FE492-2E4E-70EC-25D7-67736C052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83944"/>
            <a:ext cx="2247900" cy="10572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78C72B-644A-25DA-1B80-F53C28E453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626" y="1322607"/>
            <a:ext cx="6169661" cy="50051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65252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635">
              <a:lnSpc>
                <a:spcPct val="100000"/>
              </a:lnSpc>
              <a:spcBef>
                <a:spcPts val="100"/>
              </a:spcBef>
            </a:pPr>
            <a:r>
              <a:rPr sz="3500" spc="-10" dirty="0"/>
              <a:t>TECHNICAL</a:t>
            </a:r>
            <a:r>
              <a:rPr sz="3500" spc="-350" dirty="0"/>
              <a:t> </a:t>
            </a:r>
            <a:r>
              <a:rPr sz="3500"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8103" y="1363866"/>
            <a:ext cx="5352080" cy="5861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r>
              <a:rPr lang="en-IN" sz="1300" dirty="0"/>
              <a:t>• </a:t>
            </a:r>
            <a:r>
              <a:rPr lang="en-IN" sz="1300" b="1" dirty="0"/>
              <a:t>Technologies to be Used: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Programming Languages: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Frontend:</a:t>
            </a:r>
            <a:r>
              <a:rPr lang="en-IN" sz="1300" dirty="0"/>
              <a:t> JavaScript / TypeScript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Backend &amp; AI Engine:</a:t>
            </a:r>
            <a:r>
              <a:rPr lang="en-IN" sz="1300" dirty="0"/>
              <a:t> Python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Frameworks &amp; Libraries: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Frontend Framework:</a:t>
            </a:r>
            <a:r>
              <a:rPr lang="en-IN" sz="1300" dirty="0"/>
              <a:t> React.js for a responsive, mobile-first user interface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Backend Framework:</a:t>
            </a:r>
            <a:r>
              <a:rPr lang="en-IN" sz="1300" dirty="0"/>
              <a:t> FastAPI for high-performance RESTful APIs and real-time communication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Machine Learning:</a:t>
            </a:r>
            <a:r>
              <a:rPr lang="en-IN" sz="1300" dirty="0"/>
              <a:t> Scikit-learn for lightweight queue prediction, smart slot recommendation, and centre-load optimization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Database &amp; Real-Time Services: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Database:</a:t>
            </a:r>
            <a:r>
              <a:rPr lang="en-IN" sz="1300" dirty="0"/>
              <a:t> PostgreSQL for storing farmer profiles, bookings, procurement, and payment records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Real-Time Data:</a:t>
            </a:r>
            <a:r>
              <a:rPr lang="en-IN" sz="1300" dirty="0"/>
              <a:t> Redis for queue management, caching, and real-time event handling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WebSockets:</a:t>
            </a:r>
            <a:r>
              <a:rPr lang="en-IN" sz="1300" dirty="0"/>
              <a:t> For live queue position, waiting-time, and procurement status updates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Supporting Tools &amp; Services: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Firebase:</a:t>
            </a:r>
            <a:r>
              <a:rPr lang="en-IN" sz="1300" dirty="0"/>
              <a:t> For push notifications and alerts 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Docker:</a:t>
            </a:r>
            <a:r>
              <a:rPr lang="en-IN" sz="1300" dirty="0"/>
              <a:t> For containerized deployment and consistent armer application environments</a:t>
            </a:r>
          </a:p>
          <a:p>
            <a:pPr lvl="3"/>
            <a:r>
              <a:rPr lang="en-IN" sz="1300" b="1" dirty="0"/>
              <a:t>External Services:</a:t>
            </a:r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IN" sz="1300" b="1" dirty="0"/>
              <a:t>Google Maps API</a:t>
            </a:r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IN" sz="1300" b="1" dirty="0"/>
              <a:t>Translation API</a:t>
            </a:r>
          </a:p>
          <a:p>
            <a:pPr lvl="3"/>
            <a:endParaRPr lang="en-IN" sz="1300" b="1" dirty="0"/>
          </a:p>
          <a:p>
            <a:pPr lvl="3"/>
            <a:endParaRPr lang="en-IN" sz="1400" dirty="0"/>
          </a:p>
          <a:p>
            <a:br>
              <a:rPr lang="en-IN" sz="1400" dirty="0"/>
            </a:br>
            <a:endParaRPr lang="en-IN" sz="1400" dirty="0"/>
          </a:p>
        </p:txBody>
      </p:sp>
      <p:sp>
        <p:nvSpPr>
          <p:cNvPr id="7" name="object 7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2D869-9A4A-A89E-47D7-6DDACCC2F50F}"/>
              </a:ext>
            </a:extLst>
          </p:cNvPr>
          <p:cNvSpPr/>
          <p:nvPr/>
        </p:nvSpPr>
        <p:spPr>
          <a:xfrm>
            <a:off x="5442470" y="1345141"/>
            <a:ext cx="6747243" cy="50331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C8BCF-07C3-B00B-1017-51F57F3BE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8708"/>
            <a:ext cx="2247900" cy="10572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15F7CE-C354-9013-57EC-028BE822E7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380" y="837013"/>
            <a:ext cx="6636891" cy="5588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76613" y="341389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215">
              <a:lnSpc>
                <a:spcPct val="100000"/>
              </a:lnSpc>
              <a:spcBef>
                <a:spcPts val="100"/>
              </a:spcBef>
            </a:pPr>
            <a:r>
              <a:rPr sz="3500" spc="-10" dirty="0"/>
              <a:t>FEASIBILITY</a:t>
            </a:r>
            <a:r>
              <a:rPr sz="3500" spc="-340" dirty="0"/>
              <a:t> </a:t>
            </a:r>
            <a:r>
              <a:rPr sz="3500" dirty="0"/>
              <a:t>AND</a:t>
            </a:r>
            <a:r>
              <a:rPr sz="3500" spc="-50" dirty="0"/>
              <a:t> </a:t>
            </a:r>
            <a:r>
              <a:rPr sz="3500" spc="-10" dirty="0"/>
              <a:t>VIABILITY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26927" y="1179741"/>
            <a:ext cx="5859104" cy="475194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IN" sz="1400" b="1" dirty="0"/>
              <a:t>Feasibility :</a:t>
            </a:r>
          </a:p>
          <a:p>
            <a:r>
              <a:rPr lang="en-IN" sz="1400" dirty="0"/>
              <a:t>• AI-based queue prediction and slot recommendation can be implemented using rule-based logic and lightweight ML models.</a:t>
            </a:r>
          </a:p>
          <a:p>
            <a:r>
              <a:rPr lang="en-IN" sz="1400" dirty="0"/>
              <a:t>• Mobile-friendly interface with multilingual support can be developed for easy farmer access.</a:t>
            </a:r>
          </a:p>
          <a:p>
            <a:r>
              <a:rPr lang="en-IN" sz="1400" dirty="0"/>
              <a:t>• Procurement data can initially be entered manually and later integrated with government systems or APIs.</a:t>
            </a:r>
          </a:p>
          <a:p>
            <a:r>
              <a:rPr lang="en-IN" sz="1400" dirty="0"/>
              <a:t>• Existing services such as SMS, maps, translation, and cloud hosting make development practical.</a:t>
            </a:r>
          </a:p>
          <a:p>
            <a:br>
              <a:rPr lang="en-IN" sz="1400" dirty="0"/>
            </a:br>
            <a:endParaRPr lang="en-IN" sz="1400" dirty="0"/>
          </a:p>
          <a:p>
            <a:r>
              <a:rPr lang="en-IN" sz="1400" b="1" dirty="0"/>
              <a:t>Viability :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High demand:</a:t>
            </a:r>
            <a:r>
              <a:rPr lang="en-IN" sz="1400" dirty="0"/>
              <a:t> Farmers face long waiting times, uncertain schedules, and limited procurement status visibility.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Scalable:</a:t>
            </a:r>
            <a:r>
              <a:rPr lang="en-IN" sz="1400" dirty="0"/>
              <a:t> The platform can expand across procurement centres, districts, crops, and states.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AI-driven differentiation:</a:t>
            </a:r>
            <a:r>
              <a:rPr lang="en-IN" sz="1400" dirty="0"/>
              <a:t> Queue prediction, smart slot recommendation, and capacity optimization provide value beyond basic booking.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Government value:</a:t>
            </a:r>
            <a:r>
              <a:rPr lang="en-IN" sz="1400" dirty="0"/>
              <a:t> Real-time dashboards help authorities monitor congestion and procurement operations.</a:t>
            </a:r>
          </a:p>
          <a:p>
            <a:br>
              <a:rPr lang="en-IN" sz="1400" dirty="0"/>
            </a:br>
            <a:endParaRPr lang="en-IN" sz="14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446" y="1177283"/>
            <a:ext cx="261848" cy="240562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-25663" y="3507195"/>
            <a:ext cx="398861" cy="259067"/>
          </a:xfrm>
          <a:prstGeom prst="rect">
            <a:avLst/>
          </a:prstGeom>
        </p:spPr>
      </p:pic>
      <p:grpSp>
        <p:nvGrpSpPr>
          <p:cNvPr id="16" name="object 16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563317D-B624-A236-B378-23C0AE415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0658" y="-20879"/>
            <a:ext cx="2247900" cy="10572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F1D27DB-876C-6439-74EE-904427D054B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7752" y="881815"/>
            <a:ext cx="5853802" cy="55310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39079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0740">
              <a:lnSpc>
                <a:spcPct val="100000"/>
              </a:lnSpc>
              <a:spcBef>
                <a:spcPts val="100"/>
              </a:spcBef>
            </a:pPr>
            <a:r>
              <a:rPr sz="3500" spc="-45" dirty="0"/>
              <a:t>IMPACT</a:t>
            </a:r>
            <a:r>
              <a:rPr sz="3500" spc="-275" dirty="0"/>
              <a:t> </a:t>
            </a:r>
            <a:r>
              <a:rPr sz="3500" dirty="0"/>
              <a:t>AND</a:t>
            </a:r>
            <a:r>
              <a:rPr sz="3500" spc="-10" dirty="0"/>
              <a:t> BENEFITS</a:t>
            </a:r>
          </a:p>
        </p:txBody>
      </p:sp>
      <p:sp>
        <p:nvSpPr>
          <p:cNvPr id="14" name="object 14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CC80490-BE98-0525-52F2-D554F9723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400" y="2667"/>
            <a:ext cx="2247900" cy="105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B06163F-B8A7-9C05-1EE2-62295E6EE265}"/>
              </a:ext>
            </a:extLst>
          </p:cNvPr>
          <p:cNvSpPr txBox="1"/>
          <p:nvPr/>
        </p:nvSpPr>
        <p:spPr>
          <a:xfrm>
            <a:off x="228601" y="1295400"/>
            <a:ext cx="7239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Impact</a:t>
            </a:r>
          </a:p>
          <a:p>
            <a:r>
              <a:rPr lang="en-IN" dirty="0"/>
              <a:t>• </a:t>
            </a:r>
            <a:r>
              <a:rPr lang="en-IN" b="1" dirty="0"/>
              <a:t>Reduced Farmer Waiting Time</a:t>
            </a:r>
            <a:r>
              <a:rPr lang="en-IN" dirty="0"/>
              <a:t> through smart slot booking and queue prediction.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Reduced Procurement Centre Congestion</a:t>
            </a:r>
            <a:r>
              <a:rPr lang="en-IN" dirty="0"/>
              <a:t> through dynamic capacity management.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Improved Transparency</a:t>
            </a:r>
            <a:r>
              <a:rPr lang="en-IN" dirty="0"/>
              <a:t> with real-time queue and procurement status.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Better Government Decision-Making</a:t>
            </a:r>
            <a:r>
              <a:rPr lang="en-IN" dirty="0"/>
              <a:t> through real-time analytics and reports.</a:t>
            </a:r>
          </a:p>
          <a:p>
            <a:endParaRPr lang="en-IN" dirty="0"/>
          </a:p>
          <a:p>
            <a:r>
              <a:rPr lang="en-IN" b="1" dirty="0"/>
              <a:t>Benefits</a:t>
            </a:r>
          </a:p>
          <a:p>
            <a:r>
              <a:rPr lang="en-IN" dirty="0"/>
              <a:t>• </a:t>
            </a:r>
            <a:r>
              <a:rPr lang="en-IN" b="1" dirty="0"/>
              <a:t>Convenient Farmer Experience</a:t>
            </a:r>
            <a:r>
              <a:rPr lang="en-IN" dirty="0"/>
              <a:t> with digital tokens and notifications.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Efficient Resource Utilization</a:t>
            </a:r>
            <a:r>
              <a:rPr lang="en-IN" dirty="0"/>
              <a:t> across procurement centres.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Accessible to Rural Users</a:t>
            </a:r>
            <a:r>
              <a:rPr lang="en-IN" dirty="0"/>
              <a:t> through multilingual and </a:t>
            </a:r>
            <a:r>
              <a:rPr lang="en-IN"/>
              <a:t>offline support.</a:t>
            </a:r>
            <a:br>
              <a:rPr lang="en-IN" dirty="0"/>
            </a:br>
            <a:r>
              <a:rPr lang="en-IN" dirty="0"/>
              <a:t>• </a:t>
            </a:r>
            <a:r>
              <a:rPr lang="en-IN" b="1" dirty="0"/>
              <a:t>Scalable System</a:t>
            </a:r>
            <a:r>
              <a:rPr lang="en-IN" dirty="0"/>
              <a:t> that can expand across districts, states, and crops.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42804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00"/>
              </a:spcBef>
              <a:tabLst>
                <a:tab pos="2757170" algn="l"/>
              </a:tabLst>
            </a:pPr>
            <a:r>
              <a:rPr sz="3500" spc="-10" dirty="0"/>
              <a:t>RESEARCH</a:t>
            </a:r>
            <a:r>
              <a:rPr sz="3500" dirty="0"/>
              <a:t>	AND</a:t>
            </a:r>
            <a:r>
              <a:rPr sz="3500" spc="-20" dirty="0"/>
              <a:t> </a:t>
            </a:r>
            <a:r>
              <a:rPr sz="3500" spc="-10" dirty="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588060" y="1424178"/>
            <a:ext cx="10003740" cy="341311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IN" sz="1300" dirty="0"/>
              <a:t>• </a:t>
            </a:r>
            <a:r>
              <a:rPr lang="en-IN" sz="1300" b="1" dirty="0"/>
              <a:t>Department of Food &amp; Public Distribution, Government of India</a:t>
            </a:r>
            <a:r>
              <a:rPr lang="en-IN" sz="1300" dirty="0"/>
              <a:t> – Information on food-grain procurement and procurement operations.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Smart India Hackathon 2026, Problem Statement ID: 26032</a:t>
            </a:r>
            <a:r>
              <a:rPr lang="en-IN" sz="1300" dirty="0"/>
              <a:t> – Problem statement regarding waiting times, procurement schedules, and procurement status for farmers.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F. Ricci, L. Rokach, B. Shapira, Recommender Systems Handbook, Springer, 2022</a:t>
            </a:r>
            <a:r>
              <a:rPr lang="en-IN" sz="1300" dirty="0"/>
              <a:t> – Reference for recommendation systems and intelligent decision-making.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F. Pedregosa et al., Scikit-learn: Machine Learning in Python, Journal of Machine Learning Research, 2011</a:t>
            </a:r>
            <a:r>
              <a:rPr lang="en-IN" sz="1300" dirty="0"/>
              <a:t> – Reference for implementing lightweight machine-learning models.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FastAPI – Modern, High-Performance Web Framework for Building APIs with Python</a:t>
            </a:r>
            <a:r>
              <a:rPr lang="en-IN" sz="1300" dirty="0"/>
              <a:t> – Backend API development and integration.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PostgreSQL – Open Source Object-Relational Database Management System</a:t>
            </a:r>
            <a:r>
              <a:rPr lang="en-IN" sz="1300" dirty="0"/>
              <a:t> – Storage and management of farmer, booking, procurement, and payment data.</a:t>
            </a:r>
          </a:p>
        </p:txBody>
      </p:sp>
      <p:sp>
        <p:nvSpPr>
          <p:cNvPr id="5" name="object 5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E2A04C-09B7-CD9E-56BE-A45EE6BBE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0" y="38708"/>
            <a:ext cx="2247900" cy="10572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774</Words>
  <Application>Microsoft Office PowerPoint</Application>
  <PresentationFormat>Widescreen</PresentationFormat>
  <Paragraphs>98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MT</vt:lpstr>
      <vt:lpstr>Calibri</vt:lpstr>
      <vt:lpstr>Times New Roman</vt:lpstr>
      <vt:lpstr>Wingdings</vt:lpstr>
      <vt:lpstr>Office Theme</vt:lpstr>
      <vt:lpstr>SMART INDIA HACKATHON 2026</vt:lpstr>
      <vt:lpstr>Smart Agricultural Procurement &amp; Queue Management System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Abdullah Kapadia</cp:lastModifiedBy>
  <cp:revision>14</cp:revision>
  <dcterms:created xsi:type="dcterms:W3CDTF">2025-09-15T13:31:07Z</dcterms:created>
  <dcterms:modified xsi:type="dcterms:W3CDTF">2026-09-06T16:32:23Z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2025-09-15T00:00:00Z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2025-09-15T00:00:00Z</vt:filetime>
  </property>
  <property fmtid="{D5CDD505-2E9C-101B-9397-08002B2CF9AE}" pid="5" name="Producer">
    <vt:lpwstr>Microsoft® PowerPoint® LTSC</vt:lpwstr>
  </property>
</Properties>
</file>